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s/modernComment_7FFFD3CB_64F54868.xml" ContentType="application/vnd.ms-powerpoint.comment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6"/>
  </p:notesMasterIdLst>
  <p:sldIdLst>
    <p:sldId id="2147472331" r:id="rId5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73512F4A-AC58-71D7-E881-7DC17370CF69}" name="Mais, Erika" initials="EM" userId="S::erika.mais@accenture.com::8d1319c4-1976-4b3a-99ce-805b9a9f6262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030A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le medio 2 - Color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6" autoAdjust="0"/>
    <p:restoredTop sz="94660"/>
  </p:normalViewPr>
  <p:slideViewPr>
    <p:cSldViewPr snapToGrid="0">
      <p:cViewPr varScale="1">
        <p:scale>
          <a:sx n="62" d="100"/>
          <a:sy n="62" d="100"/>
        </p:scale>
        <p:origin x="828" y="2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Relationship Id="rId11" Type="http://schemas.microsoft.com/office/2018/10/relationships/authors" Target="authors.xml"/></Relationships>
</file>

<file path=ppt/comments/modernComment_7FFFD3CB_64F54868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ACE275B2-7E20-49A8-9D70-CECC09A08534}" authorId="{73512F4A-AC58-71D7-E881-7DC17370CF69}" created="2025-11-27T12:03:56.895">
    <pc:sldMkLst xmlns:pc="http://schemas.microsoft.com/office/powerpoint/2013/main/command">
      <pc:docMk/>
      <pc:sldMk cId="1693796456" sldId="2147472331"/>
    </pc:sldMkLst>
    <p188:txBody>
      <a:bodyPr/>
      <a:lstStyle/>
      <a:p>
        <a:r>
          <a:rPr lang="it-IT"/>
          <a:t>Per la compilazione del ruolo e del riferimento guardare la slide successiva in base al proprio codice profilo e Profilo</a:t>
        </a:r>
      </a:p>
    </p188:txBody>
  </p188:cm>
</p188:cmLst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A4CB163-1EF6-4D80-8F55-8CAB4E436686}" type="datetimeFigureOut">
              <a:rPr lang="it-IT" smtClean="0"/>
              <a:t>01/12/2025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31DF076-68F5-42B2-9FFA-CDF46175675C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1731057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lvl="1" indent="0">
              <a:buFont typeface="Courier New" panose="02070309020205020404" pitchFamily="49" charset="0"/>
              <a:buNone/>
            </a:pP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619556-C2F6-4A31-928B-96277356B3E3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7758676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AD79811-2419-B632-3C03-A1554ED5D4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5BE4D960-848F-56BB-8CDE-CD8875F2E43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D80B4AC9-11CD-42FA-ED11-D5906120FD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917005-D7A9-4BA4-8D1B-7A5CE13314BB}" type="datetimeFigureOut">
              <a:rPr lang="it-IT" smtClean="0"/>
              <a:t>01/12/2025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73DAFBD7-EDB8-A3DF-1DF7-E620F39D53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9FE8F53A-4FC9-B27B-8385-D1F15FD3C2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E3AF86-2957-4DCD-9884-8629ED7D99C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0805053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EC58C86-BCB5-4351-902E-CE336DDCC7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2E04BA84-F4D1-A325-A759-281FC69532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92071181-5D4B-3640-5942-2382D775E0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917005-D7A9-4BA4-8D1B-7A5CE13314BB}" type="datetimeFigureOut">
              <a:rPr lang="it-IT" smtClean="0"/>
              <a:t>01/12/2025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5C707D41-2E06-AF0D-D898-3693F1CF55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EA0EE543-3A9D-FB9D-652A-2F899049EB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E3AF86-2957-4DCD-9884-8629ED7D99C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3472979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585A35A-CC2A-3092-8692-1637D94C09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4D5B06EF-AD62-F4B8-2303-EF049E85D8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D66238F6-691F-C9A4-8E77-DC082023D1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917005-D7A9-4BA4-8D1B-7A5CE13314BB}" type="datetimeFigureOut">
              <a:rPr lang="it-IT" smtClean="0"/>
              <a:t>01/12/2025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4E33B294-0F71-0470-C6A9-02DB087BDB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4759D9AF-1DDB-8FA4-9101-D301632588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E3AF86-2957-4DCD-9884-8629ED7D99C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2850028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4F72D94-E1BC-4031-590A-745E89C3E2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8A3249E-FEC5-8E57-592F-852186CBA76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00A62B37-70A4-EC57-70D6-C4894ABC9A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435EF809-9BC9-56DC-98A4-E467FA58DF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917005-D7A9-4BA4-8D1B-7A5CE13314BB}" type="datetimeFigureOut">
              <a:rPr lang="it-IT" smtClean="0"/>
              <a:t>01/12/2025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B8172EB9-5666-D0AE-BCF4-2E63A2F18E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05B3B8DF-A701-B9A0-304D-39AABDA97F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E3AF86-2957-4DCD-9884-8629ED7D99C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2540465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52E5B17-6B5B-6CC2-3FA2-5519B19813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E130EA29-89F4-355E-D6F1-B976CFDD3B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1AE0C305-8676-C656-6243-ADD968CDF43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DC394104-8FA3-1E8F-3DC1-03EAF214D16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FB2EA82B-3689-6F1F-238E-4095BE149AA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62A4C264-7D8E-E28D-AE6E-DB41D5A0F3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917005-D7A9-4BA4-8D1B-7A5CE13314BB}" type="datetimeFigureOut">
              <a:rPr lang="it-IT" smtClean="0"/>
              <a:t>01/12/2025</a:t>
            </a:fld>
            <a:endParaRPr lang="it-IT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C88BCB22-E487-1960-C9C5-B81F338D01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EC60259F-87F1-C09C-1BD3-FF8ED4D24D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E3AF86-2957-4DCD-9884-8629ED7D99C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9446144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443F54A-3DC0-C18B-EEB2-49C077D8E4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D3EA779B-76BC-EF01-397A-B1C24DD55A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917005-D7A9-4BA4-8D1B-7A5CE13314BB}" type="datetimeFigureOut">
              <a:rPr lang="it-IT" smtClean="0"/>
              <a:t>01/12/2025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60DA0F6B-605C-73CA-7C28-1886A9FE93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988D8997-0546-261C-16AF-927E6269A1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E3AF86-2957-4DCD-9884-8629ED7D99C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8180254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F3CA33DA-77A9-CAB8-534E-F592851593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917005-D7A9-4BA4-8D1B-7A5CE13314BB}" type="datetimeFigureOut">
              <a:rPr lang="it-IT" smtClean="0"/>
              <a:t>01/12/2025</a:t>
            </a:fld>
            <a:endParaRPr lang="it-IT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82D71B9E-F3C3-D234-2C5F-705DB8DD83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E496A6EB-E1CC-2246-8BC6-3661420E42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E3AF86-2957-4DCD-9884-8629ED7D99C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6431996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ADD9D60-23E4-D7BF-6813-676F1BF409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7CDA5DA3-0AED-1A67-8FBC-CCD50C5CE9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481B26AA-C9D1-20A0-C448-B630191E34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9494804E-8CED-9065-89C9-6309134E2F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917005-D7A9-4BA4-8D1B-7A5CE13314BB}" type="datetimeFigureOut">
              <a:rPr lang="it-IT" smtClean="0"/>
              <a:t>01/12/2025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B904102B-07CB-F1EA-4DF7-45A5B4CDF9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38A95B95-84E8-B05E-CC7B-E881291E80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E3AF86-2957-4DCD-9884-8629ED7D99C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4382184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E99B36E-D5EF-0136-DD87-29115445A9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305E72E3-CF8B-F979-70B2-626B247664E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2FFE3BE5-5472-9656-FA6A-E6E261B01E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D0B45FDB-39BB-9627-340F-722504164E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917005-D7A9-4BA4-8D1B-7A5CE13314BB}" type="datetimeFigureOut">
              <a:rPr lang="it-IT" smtClean="0"/>
              <a:t>01/12/2025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B6061A1F-ADA3-722C-9BF7-CDCEDF4AA3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99E47D84-0D3D-C153-9899-E3B2A53E21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E3AF86-2957-4DCD-9884-8629ED7D99C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0392915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7B65ABC-80EF-7E9A-94A7-6A52F3A820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FC70908D-9E1B-1952-CF40-3B16A963E44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C39125EA-5205-509C-9CD8-7E807F6891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917005-D7A9-4BA4-8D1B-7A5CE13314BB}" type="datetimeFigureOut">
              <a:rPr lang="it-IT" smtClean="0"/>
              <a:t>01/12/2025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C1DECEED-C0AD-1DA7-BD5C-5486296A12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B6D4A6C2-F129-2613-16DA-86B1DA96A8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E3AF86-2957-4DCD-9884-8629ED7D99C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1559130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12D590BD-8CE2-11F0-11B0-241FA55D476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229172FF-2DA5-4943-3B6E-FD1FD223F40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586A8026-4B00-F26F-F708-BBB11AC7C6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917005-D7A9-4BA4-8D1B-7A5CE13314BB}" type="datetimeFigureOut">
              <a:rPr lang="it-IT" smtClean="0"/>
              <a:t>01/12/2025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00D757AC-56B9-5673-A33F-D0AB785ECD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AB4BA0D8-ED92-8CF7-2649-80589A328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E3AF86-2957-4DCD-9884-8629ED7D99C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51401905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Blank_I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6608910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F823C936-D814-0616-D99E-953CDA37FC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7B37B0FF-94B4-11C4-0D50-A9D932D479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9029DCDF-3CC3-6D6F-5A68-8B33827F7D1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D917005-D7A9-4BA4-8D1B-7A5CE13314BB}" type="datetimeFigureOut">
              <a:rPr lang="it-IT" smtClean="0"/>
              <a:t>01/12/2025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5AE6B4D1-1D64-39ED-DFF7-C2DBB2D83AD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CE7A7C88-3981-B2A5-3A58-98A67854C75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E3AF86-2957-4DCD-9884-8629ED7D99C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3525184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2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tags" Target="../tags/tag1.xml"/><Relationship Id="rId2" Type="http://schemas.openxmlformats.org/officeDocument/2006/relationships/tags" Target="../tags/tag2.xml"/><Relationship Id="rId3" Type="http://schemas.openxmlformats.org/officeDocument/2006/relationships/tags" Target="../tags/tag3.xml"/><Relationship Id="rId4" Type="http://schemas.openxmlformats.org/officeDocument/2006/relationships/tags" Target="../tags/tag4.xml"/><Relationship Id="rId5" Type="http://schemas.openxmlformats.org/officeDocument/2006/relationships/tags" Target="../tags/tag5.xml"/><Relationship Id="rId6" Type="http://schemas.openxmlformats.org/officeDocument/2006/relationships/tags" Target="../tags/tag6.xml"/><Relationship Id="rId7" Type="http://schemas.openxmlformats.org/officeDocument/2006/relationships/tags" Target="../tags/tag7.xml"/><Relationship Id="rId8" Type="http://schemas.openxmlformats.org/officeDocument/2006/relationships/tags" Target="../tags/tag8.xml"/><Relationship Id="rId9" Type="http://schemas.openxmlformats.org/officeDocument/2006/relationships/tags" Target="../tags/tag9.xml"/><Relationship Id="rId10" Type="http://schemas.openxmlformats.org/officeDocument/2006/relationships/tags" Target="../tags/tag10.xml"/><Relationship Id="rId11" Type="http://schemas.openxmlformats.org/officeDocument/2006/relationships/tags" Target="../tags/tag11.xml"/><Relationship Id="rId12" Type="http://schemas.openxmlformats.org/officeDocument/2006/relationships/tags" Target="../tags/tag12.xml"/><Relationship Id="rId13" Type="http://schemas.openxmlformats.org/officeDocument/2006/relationships/slideLayout" Target="../slideLayouts/slideLayout12.xml"/><Relationship Id="rId14" Type="http://schemas.openxmlformats.org/officeDocument/2006/relationships/notesSlide" Target="../notesSlides/notesSlide1.xml"/><Relationship Id="rId15" Type="http://schemas.microsoft.com/office/2018/10/relationships/comments" Target="../comments/modernComment_7FFFD3CB_64F54868.xml"/><Relationship Id="rId16" Type="http://schemas.openxmlformats.org/officeDocument/2006/relationships/image" Target="../media/image1.png"/><Relationship Id="rId17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11">
            <a:extLst>
              <a:ext uri="{FF2B5EF4-FFF2-40B4-BE49-F238E27FC236}">
                <a16:creationId xmlns:a16="http://schemas.microsoft.com/office/drawing/2014/main" id="{E66733DB-8680-45CF-B6C7-F2077ADCD78A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372307" y="4669803"/>
            <a:ext cx="4383167" cy="283906"/>
          </a:xfrm>
          <a:prstGeom prst="rect">
            <a:avLst/>
          </a:prstGeom>
          <a:noFill/>
          <a:ln w="3175">
            <a:noFill/>
            <a:miter lim="800000"/>
            <a:headEnd/>
            <a:tailEnd/>
          </a:ln>
        </p:spPr>
        <p:txBody>
          <a:bodyPr wrap="square" lIns="72000" tIns="72000" rIns="72000" bIns="72000">
            <a:spAutoFit/>
          </a:bodyPr>
          <a:lstStyle/>
          <a:p>
            <a:pPr>
              <a:buSzPct val="100000"/>
              <a:defRPr sz="1100">
                <a:latin typeface="Arial"/>
              </a:defRPr>
            </a:pPr>
            <a:r>
              <a:t>Data Warehousing</a:t>
            </a:r>
          </a:p>
          <a:p>
            <a:pPr>
              <a:defRPr sz="1100">
                <a:latin typeface="Arial"/>
              </a:defRPr>
            </a:pPr>
            <a:r>
              <a:t>Data Analysis</a:t>
            </a:r>
          </a:p>
          <a:p>
            <a:pPr>
              <a:defRPr sz="1100">
                <a:latin typeface="Arial"/>
              </a:defRPr>
            </a:pPr>
            <a:r>
              <a:t>AWS</a:t>
            </a:r>
          </a:p>
          <a:p>
            <a:pPr>
              <a:defRPr sz="1100">
                <a:latin typeface="Arial"/>
              </a:defRPr>
            </a:pPr>
            <a:r>
              <a:t>Google Cloud Platform</a:t>
            </a:r>
          </a:p>
          <a:p>
            <a:pPr>
              <a:defRPr sz="1100">
                <a:latin typeface="Arial"/>
              </a:defRPr>
            </a:pPr>
            <a:r>
              <a:t>Oracle Data Integration</a:t>
            </a:r>
          </a:p>
          <a:p>
            <a:pPr>
              <a:defRPr sz="1100">
                <a:latin typeface="Arial"/>
              </a:defRPr>
            </a:pPr>
            <a:r>
              <a:t>Oracle Analytics</a:t>
            </a:r>
          </a:p>
          <a:p>
            <a:pPr>
              <a:defRPr sz="1100">
                <a:latin typeface="Arial"/>
              </a:defRPr>
            </a:pPr>
            <a:r>
              <a:t>SQL</a:t>
            </a:r>
          </a:p>
          <a:p>
            <a:pPr>
              <a:defRPr sz="1100">
                <a:latin typeface="Arial"/>
              </a:defRPr>
            </a:pPr>
            <a:r>
              <a:t>Agile</a:t>
            </a:r>
          </a:p>
          <a:p>
            <a:pPr>
              <a:defRPr sz="1100">
                <a:latin typeface="Arial"/>
              </a:defRPr>
            </a:pPr>
            <a:r>
              <a:t>JIRA</a:t>
            </a:r>
          </a:p>
          <a:p>
            <a:pPr>
              <a:defRPr sz="1100">
                <a:latin typeface="Arial"/>
              </a:defRPr>
            </a:pPr>
            <a:r>
              <a:t>DevOps</a:t>
            </a:r>
          </a:p>
          <a:p>
            <a:pPr>
              <a:defRPr sz="1100">
                <a:latin typeface="Arial"/>
              </a:defRPr>
            </a:pPr>
            <a:r>
              <a:t>Talend</a:t>
            </a:r>
          </a:p>
          <a:p>
            <a:pPr>
              <a:defRPr sz="1100">
                <a:latin typeface="Arial"/>
              </a:defRPr>
            </a:pPr>
            <a:r>
              <a:t>Bash script</a:t>
            </a:r>
          </a:p>
          <a:p>
            <a:pPr>
              <a:defRPr sz="1100">
                <a:latin typeface="Arial"/>
              </a:defRPr>
            </a:pPr>
            <a:r>
              <a:t>RPG</a:t>
            </a:r>
          </a:p>
          <a:p>
            <a:pPr>
              <a:defRPr sz="1100">
                <a:latin typeface="Arial"/>
              </a:defRPr>
            </a:pPr>
            <a:r>
              <a:t>AS400</a:t>
            </a:r>
          </a:p>
        </p:txBody>
      </p:sp>
      <p:sp>
        <p:nvSpPr>
          <p:cNvPr id="23" name="Rectangle 15">
            <a:extLst>
              <a:ext uri="{FF2B5EF4-FFF2-40B4-BE49-F238E27FC236}">
                <a16:creationId xmlns:a16="http://schemas.microsoft.com/office/drawing/2014/main" id="{9AECAA71-D2B3-47FE-AEA9-7EBB7EA85478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372307" y="3117703"/>
            <a:ext cx="4703582" cy="283906"/>
          </a:xfrm>
          <a:prstGeom prst="rect">
            <a:avLst/>
          </a:prstGeom>
          <a:noFill/>
          <a:ln w="3175">
            <a:noFill/>
            <a:miter lim="800000"/>
            <a:headEnd/>
            <a:tailEnd/>
          </a:ln>
        </p:spPr>
        <p:txBody>
          <a:bodyPr wrap="square" lIns="72000" tIns="72000" rIns="72000" bIns="72000">
            <a:spAutoFit/>
          </a:bodyPr>
          <a:lstStyle/>
          <a:p>
            <a:pPr lvl="0">
              <a:buSzPct val="100000"/>
              <a:defRPr/>
            </a:pPr>
            <a:r>
              <a:rPr lang="it-IT" sz="900" b="1" kern="0" dirty="0">
                <a:solidFill>
                  <a:srgbClr val="000000"/>
                </a:solidFill>
                <a:latin typeface="Graphik" panose="020B0503030202060203" pitchFamily="34" charset="0"/>
              </a:rPr>
              <a:t>Oltre 3 anni di esperienza in Cloud, Data Management e Analytics nei settori Insurance, Financial Services, Health &amp; Public Service e Product. Esperto nel coordinamento di team tecnici e nell'integrazione di sistemi complessi in scenari enterprise.</a:t>
            </a:r>
            <a:endParaRPr lang="it-IT" sz="900" kern="0" dirty="0">
              <a:solidFill>
                <a:srgbClr val="000000"/>
              </a:solidFill>
              <a:latin typeface="Graphik" panose="020B0503030202060203" pitchFamily="34" charset="0"/>
            </a:endParaRPr>
          </a:p>
        </p:txBody>
      </p:sp>
      <p:sp>
        <p:nvSpPr>
          <p:cNvPr id="24" name="Rectangle 8">
            <a:extLst>
              <a:ext uri="{FF2B5EF4-FFF2-40B4-BE49-F238E27FC236}">
                <a16:creationId xmlns:a16="http://schemas.microsoft.com/office/drawing/2014/main" id="{C3236B4F-6207-4910-8E43-A044CF7563D5}"/>
              </a:ext>
            </a:extLst>
          </p:cNvPr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372307" y="2811316"/>
            <a:ext cx="1675697" cy="3762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72000" tIns="72000" rIns="72000" bIns="72000">
            <a:spAutoFit/>
          </a:bodyPr>
          <a:lstStyle/>
          <a:p>
            <a:pPr eaLnBrk="0" hangingPunct="0">
              <a:spcBef>
                <a:spcPct val="20000"/>
              </a:spcBef>
              <a:buSzPct val="100000"/>
              <a:buFont typeface="Wingdings" pitchFamily="2" charset="2"/>
              <a:buNone/>
              <a:defRPr/>
            </a:pPr>
            <a:r>
              <a:rPr lang="en-US" sz="1500" b="1" dirty="0">
                <a:solidFill>
                  <a:srgbClr val="7030A0"/>
                </a:solidFill>
                <a:latin typeface="Arial Black" panose="020B0A04020102020204"/>
              </a:rPr>
              <a:t>BACKGROUND</a:t>
            </a:r>
          </a:p>
        </p:txBody>
      </p:sp>
      <p:sp>
        <p:nvSpPr>
          <p:cNvPr id="28" name="Rectangle 16">
            <a:extLst>
              <a:ext uri="{FF2B5EF4-FFF2-40B4-BE49-F238E27FC236}">
                <a16:creationId xmlns:a16="http://schemas.microsoft.com/office/drawing/2014/main" id="{91932AF7-F804-4088-B367-821FE3124AB5}"/>
              </a:ext>
            </a:extLst>
          </p:cNvPr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5137200" y="1411200"/>
            <a:ext cx="6851600" cy="283906"/>
          </a:xfrm>
          <a:prstGeom prst="rect">
            <a:avLst/>
          </a:prstGeom>
          <a:noFill/>
          <a:ln w="3175">
            <a:noFill/>
            <a:miter lim="800000"/>
            <a:headEnd/>
            <a:tailEnd/>
          </a:ln>
        </p:spPr>
        <p:txBody>
          <a:bodyPr wrap="square" lIns="72000" tIns="72000" rIns="72000" bIns="72000">
            <a:spAutoFit/>
          </a:bodyPr>
          <a:lstStyle/>
          <a:p>
            <a:pPr eaLnBrk="0" hangingPunct="0">
              <a:defRPr sz="1000">
                <a:latin typeface="Arial"/>
              </a:defRPr>
            </a:pPr>
            <a:r>
              <a:t>• Accenture Technology (): Team Lead Data&amp;AI. Coordinamento team tecnici e integrazione di sistemi complessi in scenari enterprise.</a:t>
            </a:r>
          </a:p>
          <a:p>
            <a:pPr>
              <a:defRPr sz="1000">
                <a:latin typeface="Arial"/>
              </a:defRPr>
            </a:pPr>
            <a:r>
              <a:t>• Primario gruppo assicurativo (): Ingestion dati tramite SQLLoader, implementazione KPI con viste materializzate e stored procedure Oracle, manutenzione analisi funzionale con Azure DevOps.</a:t>
            </a:r>
          </a:p>
          <a:p>
            <a:pPr>
              <a:defRPr sz="1000">
                <a:latin typeface="Arial"/>
              </a:defRPr>
            </a:pPr>
            <a:r>
              <a:t>• Primario gruppo assicurativo (): AMS con circa 40 applicativi su GCP e AWS. Su GCP: container su Kubernetes, comunicazione tramite Pub/Sub. Su AWS: funzioni Lambda e Step Functions. Programmazione Python, gestione infrastruttura con Terraform.</a:t>
            </a:r>
          </a:p>
          <a:p>
            <a:pPr>
              <a:defRPr sz="1000">
                <a:latin typeface="Arial"/>
              </a:defRPr>
            </a:pPr>
            <a:r>
              <a:t>• Primario gruppo bancario (): Analisi e implementazione regole di Data Quality, job Talend per DWH, gestione team tecnico italiano e offshore, supporto al cliente.</a:t>
            </a:r>
          </a:p>
          <a:p>
            <a:pPr>
              <a:defRPr sz="1000">
                <a:latin typeface="Arial"/>
              </a:defRPr>
            </a:pPr>
            <a:r>
              <a:t>• Pubblica amministrazione (): Design e delivery Data Platform per ingestion e monitoraggio flussi dati tramite ODI, dashboard Oracle Analytics, sviluppo KPI per monitoraggio tempi chirurgici, coordinamento team tecnico.</a:t>
            </a:r>
          </a:p>
          <a:p>
            <a:pPr>
              <a:defRPr sz="1000">
                <a:latin typeface="Arial"/>
              </a:defRPr>
            </a:pPr>
            <a:r>
              <a:t>• Ambito retail (): AMS con circa 400 flussi Scala su AWS per real-time e 150 flussi batch.</a:t>
            </a:r>
          </a:p>
        </p:txBody>
      </p:sp>
      <p:sp>
        <p:nvSpPr>
          <p:cNvPr id="29" name="Rectangle 6">
            <a:extLst>
              <a:ext uri="{FF2B5EF4-FFF2-40B4-BE49-F238E27FC236}">
                <a16:creationId xmlns:a16="http://schemas.microsoft.com/office/drawing/2014/main" id="{241242F7-416E-4388-9C7D-A5ED8773486B}"/>
              </a:ext>
            </a:extLst>
          </p:cNvPr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5083826" y="1074758"/>
            <a:ext cx="3841241" cy="3762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72000" tIns="72000" rIns="72000" bIns="72000">
            <a:spAutoFit/>
          </a:bodyPr>
          <a:lstStyle/>
          <a:p>
            <a:pPr eaLnBrk="0" hangingPunct="0">
              <a:spcBef>
                <a:spcPct val="20000"/>
              </a:spcBef>
              <a:buSzPct val="100000"/>
              <a:buFont typeface="Wingdings" pitchFamily="2" charset="2"/>
              <a:buNone/>
              <a:defRPr/>
            </a:pPr>
            <a:r>
              <a:rPr lang="en-US" sz="1500" b="1">
                <a:solidFill>
                  <a:srgbClr val="7030A0"/>
                </a:solidFill>
                <a:latin typeface="Arial Black" panose="020B0A04020102020204"/>
              </a:rPr>
              <a:t>PRINCIPALI ESPERIENZE</a:t>
            </a:r>
          </a:p>
        </p:txBody>
      </p:sp>
      <p:sp>
        <p:nvSpPr>
          <p:cNvPr id="30" name="Line 12">
            <a:extLst>
              <a:ext uri="{FF2B5EF4-FFF2-40B4-BE49-F238E27FC236}">
                <a16:creationId xmlns:a16="http://schemas.microsoft.com/office/drawing/2014/main" id="{46C0A560-2BCD-4ADC-8435-6062095039BC}"/>
              </a:ext>
            </a:extLst>
          </p:cNvPr>
          <p:cNvSpPr>
            <a:spLocks noChangeShapeType="1"/>
          </p:cNvSpPr>
          <p:nvPr>
            <p:custDataLst>
              <p:tags r:id="rId6"/>
            </p:custDataLst>
          </p:nvPr>
        </p:nvSpPr>
        <p:spPr bwMode="auto">
          <a:xfrm>
            <a:off x="5123693" y="1390406"/>
            <a:ext cx="6614123" cy="0"/>
          </a:xfrm>
          <a:prstGeom prst="line">
            <a:avLst/>
          </a:prstGeom>
          <a:noFill/>
          <a:ln w="6350">
            <a:solidFill>
              <a:srgbClr val="7030A0"/>
            </a:solidFill>
            <a:prstDash val="solid"/>
            <a:round/>
            <a:headEnd/>
            <a:tailEnd type="none" w="lg" len="sm"/>
          </a:ln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31" name="Line 7">
            <a:extLst>
              <a:ext uri="{FF2B5EF4-FFF2-40B4-BE49-F238E27FC236}">
                <a16:creationId xmlns:a16="http://schemas.microsoft.com/office/drawing/2014/main" id="{8802B2FE-420A-4197-93F4-EC91518E0C6D}"/>
              </a:ext>
            </a:extLst>
          </p:cNvPr>
          <p:cNvSpPr>
            <a:spLocks noChangeShapeType="1"/>
          </p:cNvSpPr>
          <p:nvPr>
            <p:custDataLst>
              <p:tags r:id="rId7"/>
            </p:custDataLst>
          </p:nvPr>
        </p:nvSpPr>
        <p:spPr bwMode="auto">
          <a:xfrm>
            <a:off x="415945" y="3134239"/>
            <a:ext cx="4320000" cy="0"/>
          </a:xfrm>
          <a:prstGeom prst="line">
            <a:avLst/>
          </a:prstGeom>
          <a:noFill/>
          <a:ln w="12700">
            <a:solidFill>
              <a:srgbClr val="7030A0"/>
            </a:solidFill>
            <a:prstDash val="solid"/>
            <a:round/>
            <a:headEnd/>
            <a:tailEnd/>
          </a:ln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35" name="Title 4">
            <a:extLst>
              <a:ext uri="{FF2B5EF4-FFF2-40B4-BE49-F238E27FC236}">
                <a16:creationId xmlns:a16="http://schemas.microsoft.com/office/drawing/2014/main" id="{7526C734-9A28-497D-A7DE-C7D0E02B71F4}"/>
              </a:ext>
            </a:extLst>
          </p:cNvPr>
          <p:cNvSpPr txBox="1">
            <a:spLocks/>
          </p:cNvSpPr>
          <p:nvPr/>
        </p:nvSpPr>
        <p:spPr>
          <a:xfrm>
            <a:off x="380998" y="424310"/>
            <a:ext cx="11096816" cy="663192"/>
          </a:xfrm>
          <a:prstGeom prst="rect">
            <a:avLst/>
          </a:prstGeom>
        </p:spPr>
        <p:txBody>
          <a:bodyPr vert="horz" lIns="0" tIns="45720" rIns="0" bIns="0" rtlCol="0" anchor="t" anchorCtr="0">
            <a:noAutofit/>
          </a:bodyPr>
          <a:lstStyle>
            <a:lvl1pPr marL="0" indent="0" algn="l" defTabSz="914377" rtl="0" eaLnBrk="1" latinLnBrk="0" hangingPunct="1">
              <a:lnSpc>
                <a:spcPct val="70000"/>
              </a:lnSpc>
              <a:spcBef>
                <a:spcPct val="0"/>
              </a:spcBef>
              <a:buNone/>
              <a:defRPr sz="4000" b="1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>
              <a:defRPr/>
            </a:pPr>
            <a:r>
              <a:rPr lang="en-GB" sz="2800" cap="none" dirty="0">
                <a:solidFill>
                  <a:srgbClr val="7030A0"/>
                </a:solidFill>
                <a:latin typeface="Graphik" panose="020B0503030202060203" pitchFamily="34" charset="0"/>
              </a:rPr>
              <a:t>RUOLO</a:t>
            </a:r>
            <a:r>
              <a:rPr lang="en-GB" sz="2800" b="0" cap="none" dirty="0">
                <a:solidFill>
                  <a:srgbClr val="7030A0"/>
                </a:solidFill>
                <a:latin typeface="Graphik" panose="020B0503030202060203" pitchFamily="34" charset="0"/>
              </a:rPr>
              <a:t>: </a:t>
            </a:r>
            <a:r>
              <a:rPr lang="en-GB" sz="2800" b="0" cap="none" dirty="0">
                <a:latin typeface="Graphik" panose="020B0503030202060203" pitchFamily="34" charset="0"/>
              </a:rPr>
              <a:t>Team Lead Data&amp;AI, Consulente Senior</a:t>
            </a:r>
          </a:p>
          <a:p>
            <a:pPr lvl="0">
              <a:defRPr/>
            </a:pPr>
            <a:endParaRPr kumimoji="0" lang="en-GB" sz="2400" b="0" i="1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Graphik" panose="020B0503030202060203" pitchFamily="34" charset="0"/>
            </a:endParaRPr>
          </a:p>
        </p:txBody>
      </p:sp>
      <p:sp>
        <p:nvSpPr>
          <p:cNvPr id="39" name="Rectangle 10">
            <a:extLst>
              <a:ext uri="{FF2B5EF4-FFF2-40B4-BE49-F238E27FC236}">
                <a16:creationId xmlns:a16="http://schemas.microsoft.com/office/drawing/2014/main" id="{088667CC-E358-7451-1BF8-681377B31603}"/>
              </a:ext>
            </a:extLst>
          </p:cNvPr>
          <p:cNvSpPr>
            <a:spLocks noChangeArrowheads="1"/>
          </p:cNvSpPr>
          <p:nvPr>
            <p:custDataLst>
              <p:tags r:id="rId8"/>
            </p:custDataLst>
          </p:nvPr>
        </p:nvSpPr>
        <p:spPr bwMode="auto">
          <a:xfrm>
            <a:off x="368960" y="5882819"/>
            <a:ext cx="2466554" cy="3762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72000" tIns="72000" rIns="72000" bIns="72000">
            <a:spAutoFit/>
          </a:bodyPr>
          <a:lstStyle/>
          <a:p>
            <a:pPr eaLnBrk="0" hangingPunct="0">
              <a:spcBef>
                <a:spcPct val="20000"/>
              </a:spcBef>
              <a:buSzPct val="100000"/>
              <a:buFont typeface="Wingdings" pitchFamily="2" charset="2"/>
              <a:buNone/>
              <a:defRPr/>
            </a:pPr>
            <a:r>
              <a:rPr lang="en-US" sz="1500" b="1" dirty="0">
                <a:solidFill>
                  <a:srgbClr val="7030A0"/>
                </a:solidFill>
                <a:latin typeface="Arial Black" panose="020B0A04020102020204"/>
              </a:rPr>
              <a:t>LINGUE CONOSCIUTE</a:t>
            </a:r>
            <a:endParaRPr lang="en-US" sz="1500" dirty="0">
              <a:solidFill>
                <a:srgbClr val="7030A0"/>
              </a:solidFill>
              <a:latin typeface="Arial Black" panose="020B0A04020102020204"/>
            </a:endParaRPr>
          </a:p>
        </p:txBody>
      </p:sp>
      <p:sp>
        <p:nvSpPr>
          <p:cNvPr id="40" name="Line 9">
            <a:extLst>
              <a:ext uri="{FF2B5EF4-FFF2-40B4-BE49-F238E27FC236}">
                <a16:creationId xmlns:a16="http://schemas.microsoft.com/office/drawing/2014/main" id="{7381F81A-0747-3C39-C3D9-27864FA7EE1C}"/>
              </a:ext>
            </a:extLst>
          </p:cNvPr>
          <p:cNvSpPr>
            <a:spLocks noChangeShapeType="1"/>
          </p:cNvSpPr>
          <p:nvPr>
            <p:custDataLst>
              <p:tags r:id="rId9"/>
            </p:custDataLst>
          </p:nvPr>
        </p:nvSpPr>
        <p:spPr bwMode="auto">
          <a:xfrm>
            <a:off x="412598" y="6184177"/>
            <a:ext cx="4320000" cy="0"/>
          </a:xfrm>
          <a:prstGeom prst="line">
            <a:avLst/>
          </a:prstGeom>
          <a:noFill/>
          <a:ln w="12700">
            <a:solidFill>
              <a:srgbClr val="7030A0"/>
            </a:solidFill>
            <a:prstDash val="solid"/>
            <a:round/>
            <a:headEnd/>
            <a:tailEnd/>
          </a:ln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41" name="Rectangle 11">
            <a:extLst>
              <a:ext uri="{FF2B5EF4-FFF2-40B4-BE49-F238E27FC236}">
                <a16:creationId xmlns:a16="http://schemas.microsoft.com/office/drawing/2014/main" id="{EFE5D76C-B34A-5D53-41D3-2F54631A29AF}"/>
              </a:ext>
            </a:extLst>
          </p:cNvPr>
          <p:cNvSpPr>
            <a:spLocks noChangeArrowheads="1"/>
          </p:cNvSpPr>
          <p:nvPr>
            <p:custDataLst>
              <p:tags r:id="rId10"/>
            </p:custDataLst>
          </p:nvPr>
        </p:nvSpPr>
        <p:spPr bwMode="auto">
          <a:xfrm>
            <a:off x="368960" y="6259058"/>
            <a:ext cx="4590385" cy="283906"/>
          </a:xfrm>
          <a:prstGeom prst="rect">
            <a:avLst/>
          </a:prstGeom>
          <a:noFill/>
          <a:ln w="3175">
            <a:noFill/>
            <a:miter lim="800000"/>
            <a:headEnd/>
            <a:tailEnd/>
          </a:ln>
        </p:spPr>
        <p:txBody>
          <a:bodyPr wrap="square" lIns="72000" tIns="72000" rIns="72000" bIns="72000">
            <a:spAutoFit/>
          </a:bodyPr>
          <a:lstStyle/>
          <a:p>
            <a:pPr>
              <a:buSzPct val="100000"/>
              <a:defRPr sz="1100">
                <a:latin typeface="Arial"/>
              </a:defRPr>
            </a:pPr>
            <a:r>
              <a:t>Italiano (madrelingua)</a:t>
            </a:r>
            <a:endParaRPr lang="en-US" altLang="ja-JP" sz="900" i="1" kern="0" dirty="0">
              <a:solidFill>
                <a:srgbClr val="000000"/>
              </a:solidFill>
              <a:latin typeface="Graphik" panose="020B0503030202060203" pitchFamily="34" charset="0"/>
            </a:endParaRPr>
          </a:p>
          <a:p>
            <a:pPr>
              <a:defRPr sz="1100">
                <a:latin typeface="Arial"/>
              </a:defRPr>
            </a:pPr>
            <a:r>
              <a:t>Inglese (fluente)</a:t>
            </a:r>
          </a:p>
        </p:txBody>
      </p:sp>
      <p:sp>
        <p:nvSpPr>
          <p:cNvPr id="6" name="Rectangle 10">
            <a:extLst>
              <a:ext uri="{FF2B5EF4-FFF2-40B4-BE49-F238E27FC236}">
                <a16:creationId xmlns:a16="http://schemas.microsoft.com/office/drawing/2014/main" id="{C4553B0F-BB86-7BFF-B465-15BC7A111716}"/>
              </a:ext>
            </a:extLst>
          </p:cNvPr>
          <p:cNvSpPr>
            <a:spLocks noChangeArrowheads="1"/>
          </p:cNvSpPr>
          <p:nvPr>
            <p:custDataLst>
              <p:tags r:id="rId11"/>
            </p:custDataLst>
          </p:nvPr>
        </p:nvSpPr>
        <p:spPr bwMode="auto">
          <a:xfrm>
            <a:off x="372307" y="4316697"/>
            <a:ext cx="2285351" cy="3762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72000" tIns="72000" rIns="72000" bIns="72000">
            <a:spAutoFit/>
          </a:bodyPr>
          <a:lstStyle/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100000"/>
              <a:buFont typeface="Wingdings" pitchFamily="2" charset="2"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Arial Black" panose="020B0A04020102020204"/>
                <a:ea typeface="+mn-ea"/>
                <a:cs typeface="+mn-cs"/>
              </a:rPr>
              <a:t>SKILL &amp; EXPERTISE</a:t>
            </a:r>
            <a:endParaRPr kumimoji="0" lang="en-US" sz="1500" b="0" i="0" u="none" strike="noStrike" kern="1200" cap="none" spc="0" normalizeH="0" baseline="0" noProof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Arial Black" panose="020B0A04020102020204"/>
              <a:ea typeface="+mn-ea"/>
              <a:cs typeface="+mn-cs"/>
            </a:endParaRPr>
          </a:p>
        </p:txBody>
      </p:sp>
      <p:sp>
        <p:nvSpPr>
          <p:cNvPr id="7" name="Line 9">
            <a:extLst>
              <a:ext uri="{FF2B5EF4-FFF2-40B4-BE49-F238E27FC236}">
                <a16:creationId xmlns:a16="http://schemas.microsoft.com/office/drawing/2014/main" id="{A59116A0-A2C6-9B72-3B2C-3CACE0E506B3}"/>
              </a:ext>
            </a:extLst>
          </p:cNvPr>
          <p:cNvSpPr>
            <a:spLocks noChangeShapeType="1"/>
          </p:cNvSpPr>
          <p:nvPr>
            <p:custDataLst>
              <p:tags r:id="rId12"/>
            </p:custDataLst>
          </p:nvPr>
        </p:nvSpPr>
        <p:spPr bwMode="auto">
          <a:xfrm>
            <a:off x="415945" y="4626522"/>
            <a:ext cx="4320000" cy="0"/>
          </a:xfrm>
          <a:prstGeom prst="line">
            <a:avLst/>
          </a:prstGeom>
          <a:noFill/>
          <a:ln w="12700">
            <a:solidFill>
              <a:srgbClr val="7030A0"/>
            </a:solidFill>
            <a:prstDash val="solid"/>
            <a:round/>
            <a:headEnd/>
            <a:tailEnd/>
          </a:ln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6BF6565-21EB-6F47-A384-4F66A029534A}"/>
              </a:ext>
            </a:extLst>
          </p:cNvPr>
          <p:cNvSpPr/>
          <p:nvPr/>
        </p:nvSpPr>
        <p:spPr>
          <a:xfrm>
            <a:off x="10177339" y="77148"/>
            <a:ext cx="2014661" cy="314683"/>
          </a:xfrm>
          <a:prstGeom prst="rect">
            <a:avLst/>
          </a:prstGeom>
          <a:solidFill>
            <a:srgbClr val="7030A0"/>
          </a:solidFill>
          <a:ln w="3175">
            <a:noFill/>
            <a:miter lim="800000"/>
            <a:headEnd/>
            <a:tailEnd/>
          </a:ln>
        </p:spPr>
        <p:txBody>
          <a:bodyPr wrap="square" lIns="72000" tIns="72000" rIns="72000" bIns="7200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it-IT" sz="1100" b="1" i="1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+mn-cs"/>
              </a:rPr>
              <a:t>RFQ136_P01</a:t>
            </a:r>
            <a:endParaRPr kumimoji="0" lang="it-IT" sz="1100" b="1" i="1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+mn-cs"/>
            </a:endParaRP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69D2B627-167D-18F6-64EC-F8C91DE085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5945" y="1119980"/>
            <a:ext cx="4339528" cy="1484195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solidFill>
              <a:srgbClr val="7030A0"/>
            </a:solidFill>
            <a:miter lim="800000"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90488" tIns="44450" rIns="90488" bIns="44450" anchor="ctr"/>
          <a:lstStyle/>
          <a:p>
            <a:pPr algn="ctr" fontAlgn="base">
              <a:spcAft>
                <a:spcPct val="0"/>
              </a:spcAft>
              <a:buClr>
                <a:srgbClr val="000066"/>
              </a:buClr>
              <a:buSzPct val="85000"/>
            </a:pPr>
            <a:endParaRPr lang="en-GB" sz="1200" b="1">
              <a:solidFill>
                <a:srgbClr val="FFFFFF"/>
              </a:solidFill>
              <a:latin typeface="Graphik" panose="020B0503030202060203" pitchFamily="34" charset="0"/>
              <a:cs typeface="Arial" charset="0"/>
            </a:endParaRPr>
          </a:p>
        </p:txBody>
      </p:sp>
      <p:pic>
        <p:nvPicPr>
          <p:cNvPr id="10" name="Picture 4">
            <a:extLst>
              <a:ext uri="{FF2B5EF4-FFF2-40B4-BE49-F238E27FC236}">
                <a16:creationId xmlns:a16="http://schemas.microsoft.com/office/drawing/2014/main" id="{10481FE8-3F4E-11E4-B2BD-6EEC0C683F6E}"/>
              </a:ext>
            </a:extLst>
          </p:cNvPr>
          <p:cNvPicPr>
            <a:picLocks noChangeAspect="1"/>
          </p:cNvPicPr>
          <p:nvPr/>
        </p:nvPicPr>
        <p:blipFill>
          <a:blip r:embed="rId16"/>
          <a:srcRect t="23268" b="24384"/>
          <a:stretch>
            <a:fillRect/>
          </a:stretch>
        </p:blipFill>
        <p:spPr>
          <a:xfrm>
            <a:off x="2107497" y="1667459"/>
            <a:ext cx="1100322" cy="324000"/>
          </a:xfrm>
          <a:prstGeom prst="rect">
            <a:avLst/>
          </a:prstGeom>
        </p:spPr>
      </p:pic>
      <p:pic>
        <p:nvPicPr>
          <p:cNvPr id="11" name="Picture Placeholder 4" descr="A picture containing light&#10;&#10;Description automatically generated">
            <a:extLst>
              <a:ext uri="{FF2B5EF4-FFF2-40B4-BE49-F238E27FC236}">
                <a16:creationId xmlns:a16="http://schemas.microsoft.com/office/drawing/2014/main" id="{7B98F78F-708E-301D-3ECB-894618EC1684}"/>
              </a:ext>
            </a:extLst>
          </p:cNvPr>
          <p:cNvPicPr>
            <a:picLocks noChangeAspect="1"/>
          </p:cNvPicPr>
          <p:nvPr/>
        </p:nvPicPr>
        <p:blipFill>
          <a:blip r:embed="rId17"/>
          <a:srcRect/>
          <a:stretch>
            <a:fillRect/>
          </a:stretch>
        </p:blipFill>
        <p:spPr>
          <a:xfrm>
            <a:off x="765606" y="1347200"/>
            <a:ext cx="1047179" cy="1047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37964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  <p:extLst>
    <p:ext uri="{6950BFC3-D8DA-4A85-94F7-54DA5524770B}">
      <p188:commentRel xmlns:p188="http://schemas.microsoft.com/office/powerpoint/2018/8/main" r:id="rId15"/>
    </p:ext>
  </p:extLs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c_XizkTzyUmF.CVlx.9XPA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4NWeVxwAdU69KCGzZAN5Og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CWIfvMWUNE2G0qNRNbrySg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_YaSdWdJ0EaEt.r1MEbljA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jER3Nz_71EyoJSSz2XAizg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hx_HZq_lskGhJIuco0lrYg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1YjLaLJEE0GIhqz1rM7Qgg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uqjoYUURD0qBwiVUVEH2.A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p.6R3z2C_EiwiET7Tzw7IA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c_XizkTzyUmF.CVlx.9XPA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uqjoYUURD0qBwiVUVEH2.A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p.6R3z2C_EiwiET7Tzw7IA"/>
</p:tagLst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dcde4bc9-889c-44b8-ae31-35d610ff0c96">
      <Terms xmlns="http://schemas.microsoft.com/office/infopath/2007/PartnerControls"/>
    </lcf76f155ced4ddcb4097134ff3c332f>
    <TaxCatchAll xmlns="0c996f47-dcb3-45be-a188-e55b74001a6b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2E2D372449CC54F9B46CAC513C54252" ma:contentTypeVersion="11" ma:contentTypeDescription="Create a new document." ma:contentTypeScope="" ma:versionID="714553cc3dae245f330384c736973f4b">
  <xsd:schema xmlns:xsd="http://www.w3.org/2001/XMLSchema" xmlns:xs="http://www.w3.org/2001/XMLSchema" xmlns:p="http://schemas.microsoft.com/office/2006/metadata/properties" xmlns:ns2="dcde4bc9-889c-44b8-ae31-35d610ff0c96" xmlns:ns3="0c996f47-dcb3-45be-a188-e55b74001a6b" targetNamespace="http://schemas.microsoft.com/office/2006/metadata/properties" ma:root="true" ma:fieldsID="3b2b1b0659f523c01238445270550932" ns2:_="" ns3:_="">
    <xsd:import namespace="dcde4bc9-889c-44b8-ae31-35d610ff0c96"/>
    <xsd:import namespace="0c996f47-dcb3-45be-a188-e55b74001a6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cde4bc9-889c-44b8-ae31-35d610ff0c9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Image Tags" ma:readOnly="false" ma:fieldId="{5cf76f15-5ced-4ddc-b409-7134ff3c332f}" ma:taxonomyMulti="true" ma:sspId="6d165d17-9b79-46c3-82b9-c927e733c42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c996f47-dcb3-45be-a188-e55b74001a6b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a5b9c39b-ca9d-495d-ad24-a90d294fe91e}" ma:internalName="TaxCatchAll" ma:showField="CatchAllData" ma:web="0c996f47-dcb3-45be-a188-e55b74001a6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50F151F-CB08-48AD-9923-597B24B7243D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89A761C4-424A-4E14-BB16-55717FA8BDEA}">
  <ds:schemaRefs>
    <ds:schemaRef ds:uri="http://www.w3.org/XML/1998/namespace"/>
    <ds:schemaRef ds:uri="http://purl.org/dc/elements/1.1/"/>
    <ds:schemaRef ds:uri="http://purl.org/dc/terms/"/>
    <ds:schemaRef ds:uri="http://schemas.microsoft.com/office/2006/metadata/properties"/>
    <ds:schemaRef ds:uri="http://schemas.microsoft.com/office/2006/documentManagement/types"/>
    <ds:schemaRef ds:uri="http://purl.org/dc/dcmitype/"/>
    <ds:schemaRef ds:uri="http://schemas.openxmlformats.org/package/2006/metadata/core-properties"/>
    <ds:schemaRef ds:uri="http://schemas.microsoft.com/office/infopath/2007/PartnerControls"/>
    <ds:schemaRef ds:uri="765a148b-4d60-462c-b119-13d5fe610994"/>
    <ds:schemaRef ds:uri="7a425429-fb2a-4ab3-9b58-bbcd567f4085"/>
    <ds:schemaRef ds:uri="dcde4bc9-889c-44b8-ae31-35d610ff0c96"/>
    <ds:schemaRef ds:uri="0c996f47-dcb3-45be-a188-e55b74001a6b"/>
  </ds:schemaRefs>
</ds:datastoreItem>
</file>

<file path=customXml/itemProps3.xml><?xml version="1.0" encoding="utf-8"?>
<ds:datastoreItem xmlns:ds="http://schemas.openxmlformats.org/officeDocument/2006/customXml" ds:itemID="{DDD506E5-BF87-42B8-B9DA-69E717A00C0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cde4bc9-889c-44b8-ae31-35d610ff0c96"/>
    <ds:schemaRef ds:uri="0c996f47-dcb3-45be-a188-e55b74001a6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e0793d39-0939-496d-b129-198edd916feb}" enabled="0" method="" siteId="{e0793d39-0939-496d-b129-198edd916feb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68</TotalTime>
  <Words>29</Words>
  <Application>Microsoft Office PowerPoint</Application>
  <PresentationFormat>Widescreen</PresentationFormat>
  <Paragraphs>11</Paragraphs>
  <Slides>1</Slides>
  <Notes>1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8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</vt:i4>
      </vt:variant>
    </vt:vector>
  </HeadingPairs>
  <TitlesOfParts>
    <vt:vector size="10" baseType="lpstr">
      <vt:lpstr>Aptos</vt:lpstr>
      <vt:lpstr>Aptos Display</vt:lpstr>
      <vt:lpstr>Arial</vt:lpstr>
      <vt:lpstr>Arial Black</vt:lpstr>
      <vt:lpstr>Calibri</vt:lpstr>
      <vt:lpstr>Courier New</vt:lpstr>
      <vt:lpstr>Graphik</vt:lpstr>
      <vt:lpstr>Wingdings</vt:lpstr>
      <vt:lpstr>Tema di Office</vt:lpstr>
      <vt:lpstr>Presentazione standard di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Mais, Erika</dc:creator>
  <cp:lastModifiedBy>Palmiotti, Pierpaolo</cp:lastModifiedBy>
  <cp:revision>5</cp:revision>
  <dcterms:created xsi:type="dcterms:W3CDTF">2025-11-27T11:25:21Z</dcterms:created>
  <dcterms:modified xsi:type="dcterms:W3CDTF">2025-12-01T15:11:41Z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0x01010012E2D372449CC54F9B46CAC513C54252</vt:lpwstr>
  </property>
  <property fmtid="{D5CDD505-2E9C-101B-9397-08002B2CF9AE}" pid="3" name="MediaServiceImageTags">
    <vt:lpwstr/>
  </property>
</Properties>
</file>