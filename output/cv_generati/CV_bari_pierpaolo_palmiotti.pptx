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D3CB_64F54868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2331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12F4A-AC58-71D7-E881-7DC17370CF69}" name="Mais, Erika" initials="EM" userId="S::erika.mais@accenture.com::8d1319c4-1976-4b3a-99ce-805b9a9f62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7FFFD3CB_64F548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E275B2-7E20-49A8-9D70-CECC09A08534}" authorId="{73512F4A-AC58-71D7-E881-7DC17370CF69}" created="2025-11-27T12:03:56.895">
    <pc:sldMkLst xmlns:pc="http://schemas.microsoft.com/office/powerpoint/2013/main/command">
      <pc:docMk/>
      <pc:sldMk cId="1693796456" sldId="2147472331"/>
    </pc:sldMkLst>
    <p188:txBody>
      <a:bodyPr/>
      <a:lstStyle/>
      <a:p>
        <a:r>
          <a:rPr lang="it-IT"/>
          <a:t>Per la compilazione del ruolo e del riferimento guardare la slide successiva in base al proprio codice profilo e Profilo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CB163-1EF6-4D80-8F55-8CAB4E436686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DF076-68F5-42B2-9FFA-CDF4617567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310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Courier New" panose="02070309020205020404" pitchFamily="49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19556-C2F6-4A31-928B-96277356B3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586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79811-2419-B632-3C03-A1554ED5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E4D960-848F-56BB-8CDE-CD8875F2E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0B4AC9-11CD-42FA-ED11-D5906120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DAFBD7-EDB8-A3DF-1DF7-E620F39D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F53A-4FC9-B27B-8385-D1F15FD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50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58C86-BCB5-4351-902E-CE336DDC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04BA84-F4D1-A325-A759-281FC695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071181-5D4B-3640-5942-2382D775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707D41-2E06-AF0D-D898-3693F1CF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0EE543-3A9D-FB9D-652A-2F899049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2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5A35A-CC2A-3092-8692-1637D94C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5B06EF-AD62-F4B8-2303-EF049E85D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238F6-691F-C9A4-8E77-DC08202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33B294-0F71-0470-C6A9-02DB087B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59D9AF-1DDB-8FA4-9101-D301632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50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72D94-E1BC-4031-590A-745E89C3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249E-FEC5-8E57-592F-852186CBA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A62B37-70A4-EC57-70D6-C4894ABC9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5EF809-9BC9-56DC-98A4-E467FA58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172EB9-5666-D0AE-BCF4-2E63A2F1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B3B8DF-A701-B9A0-304D-39AABDA9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4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E5B17-6B5B-6CC2-3FA2-5519B198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30EA29-89F4-355E-D6F1-B976CFDD3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0C305-8676-C656-6243-ADD968CDF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C394104-8FA3-1E8F-3DC1-03EAF214D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B2EA82B-3689-6F1F-238E-4095BE149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A4C264-7D8E-E28D-AE6E-DB41D5A0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8BCB22-E487-1960-C9C5-B81F338D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60259F-87F1-C09C-1BD3-FF8ED4D2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61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3F54A-3DC0-C18B-EEB2-49C077D8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EA779B-76BC-EF01-397A-B1C24DD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0DA0F6B-605C-73CA-7C28-1886A9FE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8D8997-0546-261C-16AF-927E6269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0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CA33DA-77A9-CAB8-534E-F5928515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2D71B9E-F3C3-D234-2C5F-705DB8DD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96A6EB-E1CC-2246-8BC6-3661420E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319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D9D60-23E4-D7BF-6813-676F1BF4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DA5DA3-0AED-1A67-8FBC-CCD50C5C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1B26AA-C9D1-20A0-C448-B630191E3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94804E-8CED-9065-89C9-6309134E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04102B-07CB-F1EA-4DF7-45A5B4CD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A95B95-84E8-B05E-CC7B-E881291E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821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9B36E-D5EF-0136-DD87-29115445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5E72E3-CF8B-F979-70B2-626B24766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E3BE5-5472-9656-FA6A-E6E261B01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B45FDB-39BB-9627-340F-72250416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6061A1F-ADA3-722C-9BF7-CDCEDF4A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E47D84-0D3D-C153-9899-E3B2A53E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29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65ABC-80EF-7E9A-94A7-6A52F3A8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70908D-9E1B-1952-CF40-3B16A963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9125EA-5205-509C-9CD8-7E807F68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ECEED-C0AD-1DA7-BD5C-5486296A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D4A6C2-F129-2613-16DA-86B1DA96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91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2D590BD-8CE2-11F0-11B0-241FA55D4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9172FF-2DA5-4943-3B6E-FD1FD223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6A8026-4B00-F26F-F708-BBB11AC7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D757AC-56B9-5673-A33F-D0AB785E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4BA0D8-ED92-8CF7-2649-80589A32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4019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_I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89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23C936-D814-0616-D99E-953CDA37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37B0FF-94B4-11C4-0D50-A9D932D4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29DCDF-3CC3-6D6F-5A68-8B33827F7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E6B4D1-1D64-39ED-DFF7-C2DBB2D83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A7C88-3981-B2A5-3A58-98A67854C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1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1.xml"/><Relationship Id="rId15" Type="http://schemas.microsoft.com/office/2018/10/relationships/comments" Target="../comments/modernComment_7FFFD3CB_64F54868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1">
            <a:extLst>
              <a:ext uri="{FF2B5EF4-FFF2-40B4-BE49-F238E27FC236}">
                <a16:creationId xmlns:a16="http://schemas.microsoft.com/office/drawing/2014/main" id="{E66733DB-8680-45CF-B6C7-F2077ADCD78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2307" y="4669803"/>
            <a:ext cx="4383167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Analisi dati</a:t>
            </a:r>
          </a:p>
          <a:p>
            <a:pPr>
              <a:defRPr sz="1100">
                <a:latin typeface="Arial"/>
              </a:defRPr>
            </a:pPr>
            <a:r>
              <a:t>Data Integration</a:t>
            </a:r>
          </a:p>
          <a:p>
            <a:pPr>
              <a:defRPr sz="1100">
                <a:latin typeface="Arial"/>
              </a:defRPr>
            </a:pPr>
            <a:r>
              <a:t>ETL</a:t>
            </a:r>
          </a:p>
          <a:p>
            <a:pPr>
              <a:defRPr sz="1100">
                <a:latin typeface="Arial"/>
              </a:defRPr>
            </a:pPr>
            <a:r>
              <a:t>Sviluppo codici custom</a:t>
            </a:r>
          </a:p>
          <a:p>
            <a:pPr>
              <a:defRPr sz="1100">
                <a:latin typeface="Arial"/>
              </a:defRPr>
            </a:pPr>
            <a:r>
              <a:t>Supervisione team</a:t>
            </a:r>
          </a:p>
          <a:p>
            <a:pPr>
              <a:defRPr sz="1100">
                <a:latin typeface="Arial"/>
              </a:defRPr>
            </a:pPr>
            <a:r>
              <a:t>Process Design</a:t>
            </a:r>
          </a:p>
          <a:p>
            <a:pPr>
              <a:defRPr sz="1100">
                <a:latin typeface="Arial"/>
              </a:defRPr>
            </a:pPr>
            <a:r>
              <a:t>Informatica Cloud</a:t>
            </a:r>
          </a:p>
          <a:p>
            <a:pPr>
              <a:defRPr sz="1100">
                <a:latin typeface="Arial"/>
              </a:defRPr>
            </a:pPr>
            <a:r>
              <a:t>Python</a:t>
            </a:r>
          </a:p>
          <a:p>
            <a:pPr>
              <a:defRPr sz="1100">
                <a:latin typeface="Arial"/>
              </a:defRPr>
            </a:pPr>
            <a:r>
              <a:t>Azure</a:t>
            </a:r>
          </a:p>
          <a:p>
            <a:pPr>
              <a:defRPr sz="1100">
                <a:latin typeface="Arial"/>
              </a:defRPr>
            </a:pPr>
            <a:r>
              <a:t>Google Cloud</a:t>
            </a:r>
          </a:p>
          <a:p>
            <a:pPr>
              <a:defRPr sz="1100">
                <a:latin typeface="Arial"/>
              </a:defRPr>
            </a:pPr>
            <a:r>
              <a:t>C++</a:t>
            </a:r>
          </a:p>
          <a:p>
            <a:pPr>
              <a:defRPr sz="1100">
                <a:latin typeface="Arial"/>
              </a:defRPr>
            </a:pPr>
            <a:r>
              <a:t>Latex</a:t>
            </a:r>
          </a:p>
          <a:p>
            <a:pPr>
              <a:defRPr sz="1100">
                <a:latin typeface="Arial"/>
              </a:defRPr>
            </a:pPr>
            <a:r>
              <a:t>Arduino</a:t>
            </a:r>
          </a:p>
          <a:p>
            <a:pPr>
              <a:defRPr sz="1100">
                <a:latin typeface="Arial"/>
              </a:defRPr>
            </a:pPr>
            <a:r>
              <a:t>Talend</a:t>
            </a:r>
          </a:p>
          <a:p>
            <a:pPr>
              <a:defRPr sz="1100">
                <a:latin typeface="Arial"/>
              </a:defRPr>
            </a:pPr>
            <a:r>
              <a:t>PostgreSQL</a:t>
            </a:r>
          </a:p>
          <a:p>
            <a:pPr>
              <a:defRPr sz="1100">
                <a:latin typeface="Arial"/>
              </a:defRPr>
            </a:pPr>
            <a:r>
              <a:t>SQL Server</a:t>
            </a:r>
          </a:p>
          <a:p>
            <a:pPr>
              <a:defRPr sz="1100">
                <a:latin typeface="Arial"/>
              </a:defRPr>
            </a:pPr>
            <a:r>
              <a:t>HIVE</a:t>
            </a:r>
          </a:p>
          <a:p>
            <a:pPr>
              <a:defRPr sz="1100">
                <a:latin typeface="Arial"/>
              </a:defRPr>
            </a:pPr>
            <a:r>
              <a:t>Shell scripting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9AECAA71-D2B3-47FE-AEA9-7EBB7EA8547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2307" y="3117703"/>
            <a:ext cx="4703582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lvl="0">
              <a:buSzPct val="100000"/>
              <a:defRPr/>
            </a:pPr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</a:rPr>
              <a:t>Oltre cinque anni in Accenture, specializzato nell’implementazione di soluzioni Data Integration ed ETL, con forte propensione all’analisi dati.</a:t>
            </a:r>
            <a:endParaRPr lang="it-IT" sz="900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3236B4F-6207-4910-8E43-A044CF7563D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2307" y="2811316"/>
            <a:ext cx="1675697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BACKGROUND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91932AF7-F804-4088-B367-821FE3124AB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37200" y="1411200"/>
            <a:ext cx="6851600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eaLnBrk="0" hangingPunct="0">
              <a:defRPr sz="1000">
                <a:latin typeface="Arial"/>
              </a:defRPr>
            </a:pPr>
            <a:r>
              <a:t>• Accenture (2025-ongoing): Enhancement pipeline Azure Data Factory presso azienda Energy.</a:t>
            </a:r>
          </a:p>
          <a:p>
            <a:pPr>
              <a:defRPr sz="1000">
                <a:latin typeface="Arial"/>
              </a:defRPr>
            </a:pPr>
            <a:r>
              <a:t>• Ministero PA (2025-ongoing): Supporto nella gestione, manutenzione e analisi del codice dei Virtual Assistant usati dal business.</a:t>
            </a:r>
          </a:p>
          <a:p>
            <a:pPr>
              <a:defRPr sz="1000">
                <a:latin typeface="Arial"/>
              </a:defRPr>
            </a:pPr>
            <a:r>
              <a:t>• Azienda retail (2023-2024): Data Modeling, supervisione team per sviluppi ETL su Talend, PostgreSQL, Process Design.</a:t>
            </a:r>
          </a:p>
          <a:p>
            <a:pPr>
              <a:defRPr sz="1000">
                <a:latin typeface="Arial"/>
              </a:defRPr>
            </a:pPr>
            <a:r>
              <a:t>• Azienda Energy (2020-2023): Sviluppo di processi ETL (Informatica iPaaS), HIVE, SQL Server, Shell scripting.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241242F7-416E-4388-9C7D-A5ED8773486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3826" y="1074758"/>
            <a:ext cx="384124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>
                <a:solidFill>
                  <a:srgbClr val="7030A0"/>
                </a:solidFill>
                <a:latin typeface="Arial Black" panose="020B0A04020102020204"/>
              </a:rPr>
              <a:t>PRINCIPALI ESPERIENZE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46C0A560-2BCD-4ADC-8435-6062095039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23693" y="1390406"/>
            <a:ext cx="6614123" cy="0"/>
          </a:xfrm>
          <a:prstGeom prst="line">
            <a:avLst/>
          </a:prstGeom>
          <a:noFill/>
          <a:ln w="6350">
            <a:solidFill>
              <a:srgbClr val="7030A0"/>
            </a:solidFill>
            <a:prstDash val="solid"/>
            <a:round/>
            <a:headEnd/>
            <a:tailEnd type="none" w="lg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7">
            <a:extLst>
              <a:ext uri="{FF2B5EF4-FFF2-40B4-BE49-F238E27FC236}">
                <a16:creationId xmlns:a16="http://schemas.microsoft.com/office/drawing/2014/main" id="{8802B2FE-420A-4197-93F4-EC91518E0C6D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5945" y="3134239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7526C734-9A28-497D-A7DE-C7D0E02B71F4}"/>
              </a:ext>
            </a:extLst>
          </p:cNvPr>
          <p:cNvSpPr txBox="1">
            <a:spLocks/>
          </p:cNvSpPr>
          <p:nvPr/>
        </p:nvSpPr>
        <p:spPr>
          <a:xfrm>
            <a:off x="380998" y="424310"/>
            <a:ext cx="11096816" cy="663192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2800" cap="none" dirty="0">
                <a:solidFill>
                  <a:srgbClr val="7030A0"/>
                </a:solidFill>
                <a:latin typeface="Graphik" panose="020B0503030202060203" pitchFamily="34" charset="0"/>
              </a:rPr>
              <a:t>RUOLO</a:t>
            </a:r>
            <a:r>
              <a:rPr lang="en-GB" sz="2800" b="0" cap="none" dirty="0">
                <a:solidFill>
                  <a:srgbClr val="7030A0"/>
                </a:solidFill>
                <a:latin typeface="Graphik" panose="020B0503030202060203" pitchFamily="34" charset="0"/>
              </a:rPr>
              <a:t>: </a:t>
            </a:r>
            <a:r>
              <a:rPr lang="en-GB" sz="2800" b="0" cap="none" dirty="0">
                <a:latin typeface="Graphik" panose="020B0503030202060203" pitchFamily="34" charset="0"/>
              </a:rPr>
              <a:t>{{RUOLO}}</a:t>
            </a:r>
          </a:p>
          <a:p>
            <a:pPr lvl="0">
              <a:defRPr/>
            </a:pPr>
            <a:endParaRPr kumimoji="0" lang="en-GB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raphik" panose="020B0503030202060203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088667CC-E358-7451-1BF8-681377B3160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8960" y="5882819"/>
            <a:ext cx="2466554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LINGUE CONOSCIUTE</a:t>
            </a:r>
            <a:endParaRPr lang="en-US" sz="1500" dirty="0">
              <a:solidFill>
                <a:srgbClr val="7030A0"/>
              </a:solidFill>
              <a:latin typeface="Arial Black" panose="020B0A04020102020204"/>
            </a:endParaRP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7381F81A-0747-3C39-C3D9-27864FA7EE1C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2598" y="6184177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EFE5D76C-B34A-5D53-41D3-2F54631A29A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8960" y="6259058"/>
            <a:ext cx="4590385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Italiano (madrelingua)</a:t>
            </a:r>
            <a:endParaRPr lang="en-US" altLang="ja-JP" sz="900" i="1" kern="0" dirty="0">
              <a:solidFill>
                <a:srgbClr val="000000"/>
              </a:solidFill>
              <a:latin typeface="Graphik" panose="020B0503030202060203" pitchFamily="34" charset="0"/>
            </a:endParaRPr>
          </a:p>
          <a:p>
            <a:pPr>
              <a:defRPr sz="1100">
                <a:latin typeface="Arial"/>
              </a:defRPr>
            </a:pPr>
            <a:r>
              <a:t>Inglese (fluente)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4553B0F-BB86-7BFF-B465-15BC7A1117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07" y="4316697"/>
            <a:ext cx="228535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SKILL &amp; EXPERTISE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 Black" panose="020B0A04020102020204"/>
              <a:ea typeface="+mn-ea"/>
              <a:cs typeface="+mn-cs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59116A0-A2C6-9B72-3B2C-3CACE0E506B3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5945" y="4626522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F6565-21EB-6F47-A384-4F66A029534A}"/>
              </a:ext>
            </a:extLst>
          </p:cNvPr>
          <p:cNvSpPr/>
          <p:nvPr/>
        </p:nvSpPr>
        <p:spPr>
          <a:xfrm>
            <a:off x="10177339" y="77148"/>
            <a:ext cx="2014661" cy="314683"/>
          </a:xfrm>
          <a:prstGeom prst="rect">
            <a:avLst/>
          </a:prstGeom>
          <a:solidFill>
            <a:srgbClr val="7030A0"/>
          </a:solidFill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1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RFQ136_P01</a:t>
            </a:r>
            <a:endParaRPr kumimoji="0" lang="it-IT" sz="11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D2B627-167D-18F6-64EC-F8C91DE0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5" y="1119980"/>
            <a:ext cx="4339528" cy="14841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030A0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488" tIns="44450" rIns="90488" bIns="44450" anchor="ctr"/>
          <a:lstStyle/>
          <a:p>
            <a:pPr algn="ctr" fontAlgn="base">
              <a:spcAft>
                <a:spcPct val="0"/>
              </a:spcAft>
              <a:buClr>
                <a:srgbClr val="000066"/>
              </a:buClr>
              <a:buSzPct val="85000"/>
            </a:pPr>
            <a:endParaRPr lang="en-GB" sz="1200" b="1">
              <a:solidFill>
                <a:srgbClr val="FFFFFF"/>
              </a:solidFill>
              <a:latin typeface="Graphik" panose="020B0503030202060203" pitchFamily="34" charset="0"/>
              <a:cs typeface="Arial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0481FE8-3F4E-11E4-B2BD-6EEC0C683F6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23268" b="24384"/>
          <a:stretch>
            <a:fillRect/>
          </a:stretch>
        </p:blipFill>
        <p:spPr>
          <a:xfrm>
            <a:off x="2107497" y="1667459"/>
            <a:ext cx="1100322" cy="324000"/>
          </a:xfrm>
          <a:prstGeom prst="rect">
            <a:avLst/>
          </a:prstGeom>
        </p:spPr>
      </p:pic>
      <p:pic>
        <p:nvPicPr>
          <p:cNvPr id="11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7B98F78F-708E-301D-3ECB-894618EC168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765606" y="1347200"/>
            <a:ext cx="1047179" cy="104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15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NWeVxwAdU69KCGzZAN5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WIfvMWUNE2G0qNRNbry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YaSdWdJ0EaEt.r1MEbl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R3Nz_71EyoJSSz2XAiz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_HZq_lskGhJIuco0lr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YjLaLJEE0GIhqz1rM7Qg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0F151F-CB08-48AD-9923-597B24B724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A761C4-424A-4E14-BB16-55717FA8BDEA}">
  <ds:schemaRefs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65a148b-4d60-462c-b119-13d5fe610994"/>
    <ds:schemaRef ds:uri="7a425429-fb2a-4ab3-9b58-bbcd567f4085"/>
    <ds:schemaRef ds:uri="dcde4bc9-889c-44b8-ae31-35d610ff0c96"/>
    <ds:schemaRef ds:uri="0c996f47-dcb3-45be-a188-e55b74001a6b"/>
  </ds:schemaRefs>
</ds:datastoreItem>
</file>

<file path=customXml/itemProps3.xml><?xml version="1.0" encoding="utf-8"?>
<ds:datastoreItem xmlns:ds="http://schemas.openxmlformats.org/officeDocument/2006/customXml" ds:itemID="{DDD506E5-BF87-42B8-B9DA-69E717A00C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Calibri</vt:lpstr>
      <vt:lpstr>Courier New</vt:lpstr>
      <vt:lpstr>Graphik</vt:lpstr>
      <vt:lpstr>Wingdings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Mais, Erika</dc:creator>
  <cp:lastModifiedBy>Palmiotti, Pierpaolo</cp:lastModifiedBy>
  <cp:revision>5</cp:revision>
  <dcterms:created xsi:type="dcterms:W3CDTF">2025-11-27T11:25:21Z</dcterms:created>
  <dcterms:modified xsi:type="dcterms:W3CDTF">2025-12-01T15:11:41Z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MediaServiceImageTags">
    <vt:lpwstr/>
  </property>
</Properties>
</file>