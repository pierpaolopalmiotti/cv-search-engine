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_7FFFD3CB_64F54868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472331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512F4A-AC58-71D7-E881-7DC17370CF69}" name="Mais, Erika" initials="EM" userId="S::erika.mais@accenture.com::8d1319c4-1976-4b3a-99ce-805b9a9f62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/Relationships>
</file>

<file path=ppt/comments/modernComment_7FFFD3CB_64F5486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CE275B2-7E20-49A8-9D70-CECC09A08534}" authorId="{73512F4A-AC58-71D7-E881-7DC17370CF69}" created="2025-11-27T12:03:56.895">
    <pc:sldMkLst xmlns:pc="http://schemas.microsoft.com/office/powerpoint/2013/main/command">
      <pc:docMk/>
      <pc:sldMk cId="1693796456" sldId="2147472331"/>
    </pc:sldMkLst>
    <p188:txBody>
      <a:bodyPr/>
      <a:lstStyle/>
      <a:p>
        <a:r>
          <a:rPr lang="it-IT"/>
          <a:t>Per la compilazione del ruolo e del riferimento guardare la slide successiva in base al proprio codice profilo e Profilo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CB163-1EF6-4D80-8F55-8CAB4E436686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1DF076-68F5-42B2-9FFA-CDF4617567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3105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 typeface="Courier New" panose="02070309020205020404" pitchFamily="49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619556-C2F6-4A31-928B-96277356B3E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5867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D79811-2419-B632-3C03-A1554ED5D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BE4D960-848F-56BB-8CDE-CD8875F2E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0B4AC9-11CD-42FA-ED11-D5906120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DAFBD7-EDB8-A3DF-1DF7-E620F39D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FE8F53A-4FC9-B27B-8385-D1F15FD3C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0505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C58C86-BCB5-4351-902E-CE336DDCC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04BA84-F4D1-A325-A759-281FC6953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2071181-5D4B-3640-5942-2382D775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C707D41-2E06-AF0D-D898-3693F1CF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A0EE543-3A9D-FB9D-652A-2F899049E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7297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85A35A-CC2A-3092-8692-1637D94C0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D5B06EF-AD62-F4B8-2303-EF049E85D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66238F6-691F-C9A4-8E77-DC082023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E33B294-0F71-0470-C6A9-02DB087BD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759D9AF-1DDB-8FA4-9101-D30163258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5002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F72D94-E1BC-4031-590A-745E89C3E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A3249E-FEC5-8E57-592F-852186CBA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0A62B37-70A4-EC57-70D6-C4894ABC9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35EF809-9BC9-56DC-98A4-E467FA58D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8172EB9-5666-D0AE-BCF4-2E63A2F18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5B3B8DF-A701-B9A0-304D-39AABDA97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4046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2E5B17-6B5B-6CC2-3FA2-5519B1981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130EA29-89F4-355E-D6F1-B976CFDD3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AE0C305-8676-C656-6243-ADD968CDF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C394104-8FA3-1E8F-3DC1-03EAF214D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B2EA82B-3689-6F1F-238E-4095BE149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2A4C264-7D8E-E28D-AE6E-DB41D5A0F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88BCB22-E487-1960-C9C5-B81F338D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C60259F-87F1-C09C-1BD3-FF8ED4D24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4614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43F54A-3DC0-C18B-EEB2-49C077D8E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3EA779B-76BC-EF01-397A-B1C24DD55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0DA0F6B-605C-73CA-7C28-1886A9FE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88D8997-0546-261C-16AF-927E6269A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8025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3CA33DA-77A9-CAB8-534E-F59285159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2D71B9E-F3C3-D234-2C5F-705DB8DD8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496A6EB-E1CC-2246-8BC6-3661420E4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3199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DD9D60-23E4-D7BF-6813-676F1BF40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DA5DA3-0AED-1A67-8FBC-CCD50C5CE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81B26AA-C9D1-20A0-C448-B630191E3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494804E-8CED-9065-89C9-6309134E2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904102B-07CB-F1EA-4DF7-45A5B4CD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A95B95-84E8-B05E-CC7B-E881291E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8218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99B36E-D5EF-0136-DD87-29115445A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05E72E3-CF8B-F979-70B2-626B247664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FFE3BE5-5472-9656-FA6A-E6E261B01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0B45FDB-39BB-9627-340F-722504164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6061A1F-ADA3-722C-9BF7-CDCEDF4AA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E47D84-0D3D-C153-9899-E3B2A53E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9291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B65ABC-80EF-7E9A-94A7-6A52F3A8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C70908D-9E1B-1952-CF40-3B16A963E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39125EA-5205-509C-9CD8-7E807F68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DECEED-C0AD-1DA7-BD5C-5486296A1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D4A6C2-F129-2613-16DA-86B1DA96A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591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2D590BD-8CE2-11F0-11B0-241FA55D4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29172FF-2DA5-4943-3B6E-FD1FD223F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6A8026-4B00-F26F-F708-BBB11AC7C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0D757AC-56B9-5673-A33F-D0AB785EC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4BA0D8-ED92-8CF7-2649-80589A328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4019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Blank_I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0891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823C936-D814-0616-D99E-953CDA37F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B37B0FF-94B4-11C4-0D50-A9D932D47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029DCDF-3CC3-6D6F-5A68-8B33827F7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E6B4D1-1D64-39ED-DFF7-C2DBB2D83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E7A7C88-3981-B2A5-3A58-98A67854C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2518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slideLayout" Target="../slideLayouts/slideLayout12.xml"/><Relationship Id="rId14" Type="http://schemas.openxmlformats.org/officeDocument/2006/relationships/notesSlide" Target="../notesSlides/notesSlide1.xml"/><Relationship Id="rId15" Type="http://schemas.microsoft.com/office/2018/10/relationships/comments" Target="../comments/modernComment_7FFFD3CB_64F54868.xml"/><Relationship Id="rId16" Type="http://schemas.openxmlformats.org/officeDocument/2006/relationships/image" Target="../media/image1.png"/><Relationship Id="rId17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1">
            <a:extLst>
              <a:ext uri="{FF2B5EF4-FFF2-40B4-BE49-F238E27FC236}">
                <a16:creationId xmlns:a16="http://schemas.microsoft.com/office/drawing/2014/main" id="{E66733DB-8680-45CF-B6C7-F2077ADCD78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72307" y="4669803"/>
            <a:ext cx="4383167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 sz="1100">
                <a:latin typeface="Arial"/>
              </a:defRPr>
            </a:pPr>
            <a:r>
              <a:t>Data Analysis</a:t>
            </a:r>
          </a:p>
          <a:p>
            <a:pPr>
              <a:defRPr sz="1100">
                <a:latin typeface="Arial"/>
              </a:defRPr>
            </a:pPr>
            <a:r>
              <a:t>SQL</a:t>
            </a:r>
          </a:p>
          <a:p>
            <a:pPr>
              <a:defRPr sz="1100">
                <a:latin typeface="Arial"/>
              </a:defRPr>
            </a:pPr>
            <a:r>
              <a:t>Python</a:t>
            </a: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9AECAA71-D2B3-47FE-AEA9-7EBB7EA8547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72307" y="3117703"/>
            <a:ext cx="4703582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lvl="0">
              <a:buSzPct val="100000"/>
              <a:defRPr/>
            </a:pPr>
            <a:r>
              <a:rPr lang="it-IT" sz="900" b="1" kern="0" dirty="0">
                <a:solidFill>
                  <a:srgbClr val="000000"/>
                </a:solidFill>
                <a:latin typeface="Graphik" panose="020B0503030202060203" pitchFamily="34" charset="0"/>
              </a:rPr>
              <a:t>Consulente con oltre 3 anni di esperienza in Accenture Technology su tecnologie e progetti ETL &amp; BI/Analytics. Attività AMS Azure su azienda energetica: supporto nella manutenzione e analisi pipeline su ADF e ADB, analisi e ottimizzazione di codice e query, sviluppo soluzioni in SQL e Python e orchestrazione di pipeline ETL/ELT.</a:t>
            </a:r>
            <a:endParaRPr lang="it-IT" sz="900" kern="0" dirty="0">
              <a:solidFill>
                <a:srgbClr val="000000"/>
              </a:solidFill>
              <a:latin typeface="Graphik" panose="020B0503030202060203" pitchFamily="34" charset="0"/>
            </a:endParaRP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C3236B4F-6207-4910-8E43-A044CF7563D5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2307" y="2811316"/>
            <a:ext cx="1675697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 dirty="0">
                <a:solidFill>
                  <a:srgbClr val="7030A0"/>
                </a:solidFill>
                <a:latin typeface="Arial Black" panose="020B0A04020102020204"/>
              </a:rPr>
              <a:t>BACKGROUND</a:t>
            </a:r>
          </a:p>
        </p:txBody>
      </p:sp>
      <p:sp>
        <p:nvSpPr>
          <p:cNvPr id="28" name="Rectangle 16">
            <a:extLst>
              <a:ext uri="{FF2B5EF4-FFF2-40B4-BE49-F238E27FC236}">
                <a16:creationId xmlns:a16="http://schemas.microsoft.com/office/drawing/2014/main" id="{91932AF7-F804-4088-B367-821FE3124AB5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137200" y="1411200"/>
            <a:ext cx="6851600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eaLnBrk="0" hangingPunct="0">
              <a:defRPr sz="1000">
                <a:latin typeface="Arial"/>
              </a:defRPr>
            </a:pPr>
            <a:r>
              <a:t>• Accenture Technology (3+ anni): Progetti su ETL &amp; BI/Analytics, Data&amp;AI. Supporto AMS Azure per azienda energetica: manutenzione pipeline, analisi e ottimizzazione codice/query, sviluppo soluzioni SQL/Python, orchestrazione pipeline ETL/ELT.</a:t>
            </a: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241242F7-416E-4388-9C7D-A5ED8773486B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083826" y="1074758"/>
            <a:ext cx="3841241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>
                <a:solidFill>
                  <a:srgbClr val="7030A0"/>
                </a:solidFill>
                <a:latin typeface="Arial Black" panose="020B0A04020102020204"/>
              </a:rPr>
              <a:t>PRINCIPALI ESPERIENZE</a:t>
            </a:r>
          </a:p>
        </p:txBody>
      </p:sp>
      <p:sp>
        <p:nvSpPr>
          <p:cNvPr id="30" name="Line 12">
            <a:extLst>
              <a:ext uri="{FF2B5EF4-FFF2-40B4-BE49-F238E27FC236}">
                <a16:creationId xmlns:a16="http://schemas.microsoft.com/office/drawing/2014/main" id="{46C0A560-2BCD-4ADC-8435-6062095039BC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123693" y="1390406"/>
            <a:ext cx="6614123" cy="0"/>
          </a:xfrm>
          <a:prstGeom prst="line">
            <a:avLst/>
          </a:prstGeom>
          <a:noFill/>
          <a:ln w="6350">
            <a:solidFill>
              <a:srgbClr val="7030A0"/>
            </a:solidFill>
            <a:prstDash val="solid"/>
            <a:round/>
            <a:headEnd/>
            <a:tailEnd type="none" w="lg" len="sm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1" name="Line 7">
            <a:extLst>
              <a:ext uri="{FF2B5EF4-FFF2-40B4-BE49-F238E27FC236}">
                <a16:creationId xmlns:a16="http://schemas.microsoft.com/office/drawing/2014/main" id="{8802B2FE-420A-4197-93F4-EC91518E0C6D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415945" y="3134239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5" name="Title 4">
            <a:extLst>
              <a:ext uri="{FF2B5EF4-FFF2-40B4-BE49-F238E27FC236}">
                <a16:creationId xmlns:a16="http://schemas.microsoft.com/office/drawing/2014/main" id="{7526C734-9A28-497D-A7DE-C7D0E02B71F4}"/>
              </a:ext>
            </a:extLst>
          </p:cNvPr>
          <p:cNvSpPr txBox="1">
            <a:spLocks/>
          </p:cNvSpPr>
          <p:nvPr/>
        </p:nvSpPr>
        <p:spPr>
          <a:xfrm>
            <a:off x="380998" y="424310"/>
            <a:ext cx="11096816" cy="663192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GB" sz="2800" cap="none" dirty="0">
                <a:solidFill>
                  <a:srgbClr val="7030A0"/>
                </a:solidFill>
                <a:latin typeface="Graphik" panose="020B0503030202060203" pitchFamily="34" charset="0"/>
              </a:rPr>
              <a:t>RUOLO</a:t>
            </a:r>
            <a:r>
              <a:rPr lang="en-GB" sz="2800" b="0" cap="none" dirty="0">
                <a:solidFill>
                  <a:srgbClr val="7030A0"/>
                </a:solidFill>
                <a:latin typeface="Graphik" panose="020B0503030202060203" pitchFamily="34" charset="0"/>
              </a:rPr>
              <a:t>: </a:t>
            </a:r>
            <a:r>
              <a:rPr lang="en-GB" sz="2800" b="0" cap="none" dirty="0">
                <a:latin typeface="Graphik" panose="020B0503030202060203" pitchFamily="34" charset="0"/>
              </a:rPr>
              <a:t>Analyst Data&amp;AI</a:t>
            </a:r>
          </a:p>
          <a:p>
            <a:pPr lvl="0">
              <a:defRPr/>
            </a:pPr>
            <a:endParaRPr kumimoji="0" lang="en-GB" sz="24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raphik" panose="020B0503030202060203" pitchFamily="34" charset="0"/>
            </a:endParaRPr>
          </a:p>
        </p:txBody>
      </p:sp>
      <p:sp>
        <p:nvSpPr>
          <p:cNvPr id="39" name="Rectangle 10">
            <a:extLst>
              <a:ext uri="{FF2B5EF4-FFF2-40B4-BE49-F238E27FC236}">
                <a16:creationId xmlns:a16="http://schemas.microsoft.com/office/drawing/2014/main" id="{088667CC-E358-7451-1BF8-681377B31603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68960" y="5882819"/>
            <a:ext cx="2466554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 dirty="0">
                <a:solidFill>
                  <a:srgbClr val="7030A0"/>
                </a:solidFill>
                <a:latin typeface="Arial Black" panose="020B0A04020102020204"/>
              </a:rPr>
              <a:t>LINGUE CONOSCIUTE</a:t>
            </a:r>
            <a:endParaRPr lang="en-US" sz="1500" dirty="0">
              <a:solidFill>
                <a:srgbClr val="7030A0"/>
              </a:solidFill>
              <a:latin typeface="Arial Black" panose="020B0A04020102020204"/>
            </a:endParaRPr>
          </a:p>
        </p:txBody>
      </p:sp>
      <p:sp>
        <p:nvSpPr>
          <p:cNvPr id="40" name="Line 9">
            <a:extLst>
              <a:ext uri="{FF2B5EF4-FFF2-40B4-BE49-F238E27FC236}">
                <a16:creationId xmlns:a16="http://schemas.microsoft.com/office/drawing/2014/main" id="{7381F81A-0747-3C39-C3D9-27864FA7EE1C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412598" y="6184177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1" name="Rectangle 11">
            <a:extLst>
              <a:ext uri="{FF2B5EF4-FFF2-40B4-BE49-F238E27FC236}">
                <a16:creationId xmlns:a16="http://schemas.microsoft.com/office/drawing/2014/main" id="{EFE5D76C-B34A-5D53-41D3-2F54631A29AF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68960" y="6259058"/>
            <a:ext cx="4590385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 sz="1100">
                <a:latin typeface="Arial"/>
              </a:defRPr>
            </a:pPr>
            <a:r>
              <a:t>Italiano (madrelingua)</a:t>
            </a:r>
            <a:endParaRPr lang="en-US" altLang="ja-JP" sz="900" i="1" kern="0" dirty="0">
              <a:solidFill>
                <a:srgbClr val="000000"/>
              </a:solidFill>
              <a:latin typeface="Graphik" panose="020B0503030202060203" pitchFamily="34" charset="0"/>
            </a:endParaRPr>
          </a:p>
          <a:p>
            <a:pPr>
              <a:defRPr sz="1100">
                <a:latin typeface="Arial"/>
              </a:defRPr>
            </a:pPr>
            <a:r>
              <a:t>Inglese (fluente)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C4553B0F-BB86-7BFF-B465-15BC7A111716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72307" y="4316697"/>
            <a:ext cx="2285351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 Black" panose="020B0A04020102020204"/>
                <a:ea typeface="+mn-ea"/>
                <a:cs typeface="+mn-cs"/>
              </a:rPr>
              <a:t>SKILL &amp; EXPERTISE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 Black" panose="020B0A04020102020204"/>
              <a:ea typeface="+mn-ea"/>
              <a:cs typeface="+mn-cs"/>
            </a:endParaRP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A59116A0-A2C6-9B72-3B2C-3CACE0E506B3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15945" y="4626522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BF6565-21EB-6F47-A384-4F66A029534A}"/>
              </a:ext>
            </a:extLst>
          </p:cNvPr>
          <p:cNvSpPr/>
          <p:nvPr/>
        </p:nvSpPr>
        <p:spPr>
          <a:xfrm>
            <a:off x="10177339" y="77148"/>
            <a:ext cx="2014661" cy="314683"/>
          </a:xfrm>
          <a:prstGeom prst="rect">
            <a:avLst/>
          </a:prstGeom>
          <a:solidFill>
            <a:srgbClr val="7030A0"/>
          </a:solidFill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it-IT" sz="11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RFQ136_P01</a:t>
            </a:r>
            <a:endParaRPr kumimoji="0" lang="it-IT" sz="11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9D2B627-167D-18F6-64EC-F8C91DE08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45" y="1119980"/>
            <a:ext cx="4339528" cy="148419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7030A0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488" tIns="44450" rIns="90488" bIns="44450" anchor="ctr"/>
          <a:lstStyle/>
          <a:p>
            <a:pPr algn="ctr" fontAlgn="base">
              <a:spcAft>
                <a:spcPct val="0"/>
              </a:spcAft>
              <a:buClr>
                <a:srgbClr val="000066"/>
              </a:buClr>
              <a:buSzPct val="85000"/>
            </a:pPr>
            <a:endParaRPr lang="en-GB" sz="1200" b="1">
              <a:solidFill>
                <a:srgbClr val="FFFFFF"/>
              </a:solidFill>
              <a:latin typeface="Graphik" panose="020B0503030202060203" pitchFamily="34" charset="0"/>
              <a:cs typeface="Arial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10481FE8-3F4E-11E4-B2BD-6EEC0C683F6E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23268" b="24384"/>
          <a:stretch>
            <a:fillRect/>
          </a:stretch>
        </p:blipFill>
        <p:spPr>
          <a:xfrm>
            <a:off x="2107497" y="1667459"/>
            <a:ext cx="1100322" cy="324000"/>
          </a:xfrm>
          <a:prstGeom prst="rect">
            <a:avLst/>
          </a:prstGeom>
        </p:spPr>
      </p:pic>
      <p:pic>
        <p:nvPicPr>
          <p:cNvPr id="11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7B98F78F-708E-301D-3ECB-894618EC1684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765606" y="1347200"/>
            <a:ext cx="1047179" cy="104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79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6950BFC3-D8DA-4A85-94F7-54DA5524770B}">
      <p188:commentRel xmlns:p188="http://schemas.microsoft.com/office/powerpoint/2018/8/main" r:id="rId15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NWeVxwAdU69KCGzZAN5O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WIfvMWUNE2G0qNRNbryS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YaSdWdJ0EaEt.r1MEblj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ER3Nz_71EyoJSSz2XAiz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x_HZq_lskGhJIuco0lrY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YjLaLJEE0GIhqz1rM7Qg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qjoYUURD0qBwiVUVEH2.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.6R3z2C_EiwiET7Tzw7I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qjoYUURD0qBwiVUVEH2.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.6R3z2C_EiwiET7Tzw7IA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cde4bc9-889c-44b8-ae31-35d610ff0c96">
      <Terms xmlns="http://schemas.microsoft.com/office/infopath/2007/PartnerControls"/>
    </lcf76f155ced4ddcb4097134ff3c332f>
    <TaxCatchAll xmlns="0c996f47-dcb3-45be-a188-e55b74001a6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E2D372449CC54F9B46CAC513C54252" ma:contentTypeVersion="11" ma:contentTypeDescription="Create a new document." ma:contentTypeScope="" ma:versionID="714553cc3dae245f330384c736973f4b">
  <xsd:schema xmlns:xsd="http://www.w3.org/2001/XMLSchema" xmlns:xs="http://www.w3.org/2001/XMLSchema" xmlns:p="http://schemas.microsoft.com/office/2006/metadata/properties" xmlns:ns2="dcde4bc9-889c-44b8-ae31-35d610ff0c96" xmlns:ns3="0c996f47-dcb3-45be-a188-e55b74001a6b" targetNamespace="http://schemas.microsoft.com/office/2006/metadata/properties" ma:root="true" ma:fieldsID="3b2b1b0659f523c01238445270550932" ns2:_="" ns3:_="">
    <xsd:import namespace="dcde4bc9-889c-44b8-ae31-35d610ff0c96"/>
    <xsd:import namespace="0c996f47-dcb3-45be-a188-e55b74001a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de4bc9-889c-44b8-ae31-35d610ff0c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996f47-dcb3-45be-a188-e55b74001a6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5b9c39b-ca9d-495d-ad24-a90d294fe91e}" ma:internalName="TaxCatchAll" ma:showField="CatchAllData" ma:web="0c996f47-dcb3-45be-a188-e55b74001a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0F151F-CB08-48AD-9923-597B24B724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A761C4-424A-4E14-BB16-55717FA8BDEA}">
  <ds:schemaRefs>
    <ds:schemaRef ds:uri="http://www.w3.org/XML/1998/namespace"/>
    <ds:schemaRef ds:uri="http://purl.org/dc/elements/1.1/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765a148b-4d60-462c-b119-13d5fe610994"/>
    <ds:schemaRef ds:uri="7a425429-fb2a-4ab3-9b58-bbcd567f4085"/>
    <ds:schemaRef ds:uri="dcde4bc9-889c-44b8-ae31-35d610ff0c96"/>
    <ds:schemaRef ds:uri="0c996f47-dcb3-45be-a188-e55b74001a6b"/>
  </ds:schemaRefs>
</ds:datastoreItem>
</file>

<file path=customXml/itemProps3.xml><?xml version="1.0" encoding="utf-8"?>
<ds:datastoreItem xmlns:ds="http://schemas.openxmlformats.org/officeDocument/2006/customXml" ds:itemID="{DDD506E5-BF87-42B8-B9DA-69E717A00C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de4bc9-889c-44b8-ae31-35d610ff0c96"/>
    <ds:schemaRef ds:uri="0c996f47-dcb3-45be-a188-e55b74001a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29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Arial Black</vt:lpstr>
      <vt:lpstr>Calibri</vt:lpstr>
      <vt:lpstr>Courier New</vt:lpstr>
      <vt:lpstr>Graphik</vt:lpstr>
      <vt:lpstr>Wingdings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Mais, Erika</dc:creator>
  <cp:lastModifiedBy>Palmiotti, Pierpaolo</cp:lastModifiedBy>
  <cp:revision>5</cp:revision>
  <dcterms:created xsi:type="dcterms:W3CDTF">2025-11-27T11:25:21Z</dcterms:created>
  <dcterms:modified xsi:type="dcterms:W3CDTF">2025-12-01T15:11:41Z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0x01010012E2D372449CC54F9B46CAC513C54252</vt:lpwstr>
  </property>
  <property fmtid="{D5CDD505-2E9C-101B-9397-08002B2CF9AE}" pid="3" name="MediaServiceImageTags">
    <vt:lpwstr/>
  </property>
</Properties>
</file>