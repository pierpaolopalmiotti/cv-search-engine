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84" autoAdjust="0"/>
  </p:normalViewPr>
  <p:slideViewPr>
    <p:cSldViewPr snapToGrid="0">
      <p:cViewPr varScale="1">
        <p:scale>
          <a:sx n="61" d="100"/>
          <a:sy n="61" d="100"/>
        </p:scale>
        <p:origin x="88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ta, Antonio" userId="6295abe1-a071-42ee-8efe-2326a142e189" providerId="ADAL" clId="{A98FE302-5F38-4CE2-8B9B-1E77DAC8F3E8}"/>
    <pc:docChg chg="modSld">
      <pc:chgData name="Ruta, Antonio" userId="6295abe1-a071-42ee-8efe-2326a142e189" providerId="ADAL" clId="{A98FE302-5F38-4CE2-8B9B-1E77DAC8F3E8}" dt="2025-10-14T18:46:51.843" v="66" actId="20577"/>
      <pc:docMkLst>
        <pc:docMk/>
      </pc:docMkLst>
      <pc:sldChg chg="modSp mod">
        <pc:chgData name="Ruta, Antonio" userId="6295abe1-a071-42ee-8efe-2326a142e189" providerId="ADAL" clId="{A98FE302-5F38-4CE2-8B9B-1E77DAC8F3E8}" dt="2025-10-14T18:46:51.843" v="66" actId="20577"/>
        <pc:sldMkLst>
          <pc:docMk/>
          <pc:sldMk cId="3591367793" sldId="256"/>
        </pc:sldMkLst>
        <pc:spChg chg="mod">
          <ac:chgData name="Ruta, Antonio" userId="6295abe1-a071-42ee-8efe-2326a142e189" providerId="ADAL" clId="{A98FE302-5F38-4CE2-8B9B-1E77DAC8F3E8}" dt="2025-10-14T18:44:46.009" v="14" actId="20577"/>
          <ac:spMkLst>
            <pc:docMk/>
            <pc:sldMk cId="3591367793" sldId="256"/>
            <ac:spMk id="6" creationId="{B5EA944C-8B3B-739F-905E-0E4E86A274C9}"/>
          </ac:spMkLst>
        </pc:spChg>
        <pc:spChg chg="mod">
          <ac:chgData name="Ruta, Antonio" userId="6295abe1-a071-42ee-8efe-2326a142e189" providerId="ADAL" clId="{A98FE302-5F38-4CE2-8B9B-1E77DAC8F3E8}" dt="2025-10-14T18:44:58.771" v="42" actId="20577"/>
          <ac:spMkLst>
            <pc:docMk/>
            <pc:sldMk cId="3591367793" sldId="256"/>
            <ac:spMk id="9" creationId="{87222C6B-C540-7F34-AA5D-3D2FC9B07AFC}"/>
          </ac:spMkLst>
        </pc:spChg>
        <pc:spChg chg="mod">
          <ac:chgData name="Ruta, Antonio" userId="6295abe1-a071-42ee-8efe-2326a142e189" providerId="ADAL" clId="{A98FE302-5F38-4CE2-8B9B-1E77DAC8F3E8}" dt="2025-10-14T18:45:06.425" v="44" actId="20577"/>
          <ac:spMkLst>
            <pc:docMk/>
            <pc:sldMk cId="3591367793" sldId="256"/>
            <ac:spMk id="13" creationId="{8D87EC3D-2840-FFE8-4998-D458CA9D58C4}"/>
          </ac:spMkLst>
        </pc:spChg>
        <pc:spChg chg="mod">
          <ac:chgData name="Ruta, Antonio" userId="6295abe1-a071-42ee-8efe-2326a142e189" providerId="ADAL" clId="{A98FE302-5F38-4CE2-8B9B-1E77DAC8F3E8}" dt="2025-10-14T18:46:51.843" v="66" actId="20577"/>
          <ac:spMkLst>
            <pc:docMk/>
            <pc:sldMk cId="3591367793" sldId="256"/>
            <ac:spMk id="15" creationId="{8FB6D7FE-14F8-BD40-5DA1-080F6C341D9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3A878-52AC-4EA8-B7C5-EC1C575D2A82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21D29A-0390-4575-84A6-358812005D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7721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21D29A-0390-4575-84A6-358812005D9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35472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BA124C-0019-71ED-D1E5-20DB7CEC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1AFF01C-31EB-690E-BE18-A4DCB9C13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3014BF-D1F9-C24F-C09B-59870EA51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6D2329-42AA-3660-CC45-9EC6871D0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DAE2F4-2451-4145-5627-D45A50BD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749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5EDA07-BC6E-1381-709A-0D9D584FC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3ADD97-E255-D930-BA6C-407997AB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23566F-E689-DF09-7BB6-09DF2E384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B821AF-6511-0494-80C0-12E698A7E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FFF5E3-D343-3EF8-51C6-58031633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232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C0D467-3BF1-9B20-CE74-96108F421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35FD68A-CAB5-C40B-8BCA-AAE72A200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31FF88-75A9-E1E8-BD43-4DFC3BC8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DED9C2-7781-F06D-7BCA-FBE5F6CE9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EE311A-C377-F363-CFA4-1528B80D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1061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A85887-67E1-40BB-0451-EB291A31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275629-512C-588B-F093-B2EEC9B16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0D637B7-F716-C4E6-91B1-D3C3767B3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B99D82-6DFD-AE32-3CC3-D68D802C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479804B-FDC6-EB3A-2F12-7CF1DAB00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8B31B21-410F-88E9-562C-CA3863AD3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5184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0A1C9A-C9BC-32F7-62EC-268ECC672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395FD1-DB35-2DEB-2026-25DBD4B3D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C06E2D4-3F93-269E-453C-944438375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758E6A4-0CC3-E778-3F76-0D68C3484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63E80EC-DCF5-64F4-DFB5-710678C87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192D664-C4AA-58B1-363C-37C214DA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49456EA-A9AD-A54B-1A24-3C62E9AA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B4EE9FD-A41C-764F-9FA5-1A73E624F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49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9ADD43-89F5-631F-32E0-D6AD841DC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838F982-946D-EB6D-27F1-9C0CA96FC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267AE6B-2D2D-9750-A143-7096522D1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DD7831C-A1D8-73AD-633E-4A1001E25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50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F1EDE35-223A-8E3C-4058-AB5283223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F08EE66-2D17-71FA-B47A-ED4D2148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8D86310-13E0-0029-B0B0-B898AD20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604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2541CF-512E-4DDB-AF26-0CB583F0B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83B7E3-29AD-9B5C-2844-54E5A6913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3F7E741-6AAE-CA93-25C2-12D521F9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34F03C-53F9-90CC-B334-CFC27F751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4C6A5BA-BD2D-3A01-D350-CEF8C5F1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C43AA10-FBA2-4C5A-0D52-2D015916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6617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A6C77F-3522-7877-AAD1-83A81BE82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0F5A059-0D37-FE4C-BEEF-4B4EB724C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9E16F21-81FB-9487-BFEC-FE7137E81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CA1FF92-7E0A-D7C0-CB27-77FD00CA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7593131-C1EA-572D-494E-5E7F09091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18FA800-6F71-CBA7-80DC-2EBF79D66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3532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D4BB65-8970-E4FD-991F-1E04E146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5782D2A-AB90-6FBF-8EB3-B1CE36204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3C45AF-7444-A822-8807-DC18CCEA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2EB9B6-3B7D-E045-5642-D5862EE52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39CB4E-D95B-7607-D0CD-F8FEEA3A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5615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9DA51BD-5C39-724F-51A7-571AA6A1C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E1984E9-D670-AF46-FF2E-1B12F2746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B6C678-A18D-8D26-52B2-B2AFEC362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74DD5F9-54DD-B3D2-EC97-23311AB1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ADCF38-AE69-4DD4-9067-41D32992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4763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E3A76D6-9502-B4C3-9C3A-D73EDDCE8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41FC80-9061-41CD-4A6B-99C33704B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E12031-9BDE-399A-229C-47F7EE8B7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3E39F-BEBD-4F5F-B150-34A153CB8020}" type="datetimeFigureOut">
              <a:rPr lang="it-IT" smtClean="0"/>
              <a:t>04/12/2025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42C488-7028-FC1F-7C97-9C53490E3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811FCD6-305E-A8B9-242A-BADC25145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01D9E-A264-47A6-A911-534E49AE6A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845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6176340-D2CB-ADA0-EA03-7F185D07B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1"/>
            <a:ext cx="12192000" cy="1008291"/>
          </a:xfrm>
          <a:prstGeom prst="rect">
            <a:avLst/>
          </a:prstGeom>
        </p:spPr>
      </p:pic>
      <p:sp>
        <p:nvSpPr>
          <p:cNvPr id="6" name="Google Shape;79;p1">
            <a:extLst>
              <a:ext uri="{FF2B5EF4-FFF2-40B4-BE49-F238E27FC236}">
                <a16:creationId xmlns:a16="http://schemas.microsoft.com/office/drawing/2014/main" id="{B5EA944C-8B3B-739F-905E-0E4E86A274C9}"/>
              </a:ext>
            </a:extLst>
          </p:cNvPr>
          <p:cNvSpPr/>
          <p:nvPr/>
        </p:nvSpPr>
        <p:spPr>
          <a:xfrm>
            <a:off x="536679" y="1190040"/>
            <a:ext cx="3410900" cy="1120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Domenico Garofalo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dirty="0"/>
              <a:t>Analyst</a:t>
            </a:r>
            <a:endParaRPr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EB577BF-3B21-7C0B-4459-8229AF8DD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78" y="2524753"/>
            <a:ext cx="3572209" cy="426809"/>
          </a:xfrm>
          <a:prstGeom prst="rect">
            <a:avLst/>
          </a:prstGeom>
        </p:spPr>
      </p:pic>
      <p:sp>
        <p:nvSpPr>
          <p:cNvPr id="9" name="Google Shape;77;p1">
            <a:extLst>
              <a:ext uri="{FF2B5EF4-FFF2-40B4-BE49-F238E27FC236}">
                <a16:creationId xmlns:a16="http://schemas.microsoft.com/office/drawing/2014/main" id="{87222C6B-C540-7F34-AA5D-3D2FC9B07AFC}"/>
              </a:ext>
            </a:extLst>
          </p:cNvPr>
          <p:cNvSpPr/>
          <p:nvPr/>
        </p:nvSpPr>
        <p:spPr>
          <a:xfrm>
            <a:off x="579928" y="2960231"/>
            <a:ext cx="3310587" cy="1008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Consulente con oltre quattro anni di esperienza in Accenture, con competenze in ambito HPS, Banking e Utilities. Laurea magistrale in Economia. Esperienza in supporto all'evoluzione e ottimizzazione dei processi bancari, progettazione di modelli di reporting e pianificazione per gruppi infrastrutturali, manutenzione applicativa e project management per il settore Utilities, analisi e progettazione di modelli di business intelligence per aziende ospedaliere e supporto alle attività di CRM e contact center per gruppi energetici internazionali.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0214A1A-9DB4-6571-A0A4-AB901C84A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71" y="4115338"/>
            <a:ext cx="3571481" cy="358987"/>
          </a:xfrm>
          <a:prstGeom prst="rect">
            <a:avLst/>
          </a:prstGeom>
        </p:spPr>
      </p:pic>
      <p:sp>
        <p:nvSpPr>
          <p:cNvPr id="12" name="Google Shape;81;p1">
            <a:extLst>
              <a:ext uri="{FF2B5EF4-FFF2-40B4-BE49-F238E27FC236}">
                <a16:creationId xmlns:a16="http://schemas.microsoft.com/office/drawing/2014/main" id="{1C79B6A2-4A35-DBA2-CB5D-F53B157A095C}"/>
              </a:ext>
            </a:extLst>
          </p:cNvPr>
          <p:cNvSpPr/>
          <p:nvPr/>
        </p:nvSpPr>
        <p:spPr>
          <a:xfrm>
            <a:off x="570236" y="4621752"/>
            <a:ext cx="1603230" cy="126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accent2"/>
              </a:buClr>
              <a:buSzPts val="1000"/>
              <a:defRPr sz="1100">
                <a:latin typeface="Arial"/>
              </a:defRPr>
            </a:pPr>
            <a:r>
              <a:t>Analisi dati</a:t>
            </a:r>
          </a:p>
          <a:p>
            <a:pPr>
              <a:defRPr sz="1100">
                <a:latin typeface="Arial"/>
              </a:defRPr>
            </a:pPr>
            <a:r>
              <a:t>Project management</a:t>
            </a:r>
          </a:p>
          <a:p>
            <a:pPr>
              <a:defRPr sz="1100">
                <a:latin typeface="Arial"/>
              </a:defRPr>
            </a:pPr>
            <a:r>
              <a:t>Business intelligence</a:t>
            </a:r>
          </a:p>
          <a:p>
            <a:pPr>
              <a:defRPr sz="1100">
                <a:latin typeface="Arial"/>
              </a:defRPr>
            </a:pPr>
            <a:r>
              <a:t>Reporting</a:t>
            </a:r>
          </a:p>
          <a:p>
            <a:pPr>
              <a:defRPr sz="1100">
                <a:latin typeface="Arial"/>
              </a:defRPr>
            </a:pPr>
            <a:r>
              <a:t>Data Governance</a:t>
            </a:r>
          </a:p>
          <a:p>
            <a:pPr>
              <a:defRPr sz="1100">
                <a:latin typeface="Arial"/>
              </a:defRPr>
            </a:pPr>
            <a:r>
              <a:t>Supporto utenti</a:t>
            </a:r>
          </a:p>
          <a:p>
            <a:pPr>
              <a:defRPr sz="1100">
                <a:latin typeface="Arial"/>
              </a:defRPr>
            </a:pPr>
            <a:r>
              <a:t>Oracle Data Integrator 12c (ODI)</a:t>
            </a:r>
          </a:p>
          <a:p>
            <a:pPr>
              <a:defRPr sz="1100">
                <a:latin typeface="Arial"/>
              </a:defRPr>
            </a:pPr>
            <a:r>
              <a:t>Oracle Analytics</a:t>
            </a:r>
          </a:p>
          <a:p>
            <a:pPr>
              <a:defRPr sz="1100">
                <a:latin typeface="Arial"/>
              </a:defRPr>
            </a:pPr>
            <a:r>
              <a:t>Databricks</a:t>
            </a:r>
          </a:p>
          <a:p>
            <a:pPr>
              <a:defRPr sz="1100">
                <a:latin typeface="Arial"/>
              </a:defRPr>
            </a:pPr>
            <a:r>
              <a:t>Microsoft Power BI</a:t>
            </a:r>
          </a:p>
          <a:p>
            <a:pPr>
              <a:defRPr sz="1100">
                <a:latin typeface="Arial"/>
              </a:defRPr>
            </a:pPr>
            <a:r>
              <a:t>Tagetik CCH</a:t>
            </a:r>
          </a:p>
        </p:txBody>
      </p:sp>
      <p:sp>
        <p:nvSpPr>
          <p:cNvPr id="14" name="Google Shape;78;p1">
            <a:extLst>
              <a:ext uri="{FF2B5EF4-FFF2-40B4-BE49-F238E27FC236}">
                <a16:creationId xmlns:a16="http://schemas.microsoft.com/office/drawing/2014/main" id="{D0B82AA4-EFD0-A027-0803-C01F716CC492}"/>
              </a:ext>
            </a:extLst>
          </p:cNvPr>
          <p:cNvSpPr txBox="1"/>
          <p:nvPr/>
        </p:nvSpPr>
        <p:spPr>
          <a:xfrm>
            <a:off x="5607964" y="4288237"/>
            <a:ext cx="3125489" cy="10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Laurea magistrale -</a:t>
            </a:r>
            <a:r>
              <a:rPr lang="en-US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{{ANNOFINE_FORMAZIONE}}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21212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0;p1">
            <a:extLst>
              <a:ext uri="{FF2B5EF4-FFF2-40B4-BE49-F238E27FC236}">
                <a16:creationId xmlns:a16="http://schemas.microsoft.com/office/drawing/2014/main" id="{8FB6D7FE-14F8-BD40-5DA1-080F6C341D90}"/>
              </a:ext>
            </a:extLst>
          </p:cNvPr>
          <p:cNvSpPr txBox="1"/>
          <p:nvPr/>
        </p:nvSpPr>
        <p:spPr>
          <a:xfrm>
            <a:off x="5550117" y="1525573"/>
            <a:ext cx="6493551" cy="2253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>
                <a:latin typeface="Arial"/>
              </a:defRPr>
            </a:pPr>
            <a:r>
              <a:t>• Accenture (Oltre quattro anni): Consulente su tematiche HPS, Banking e Utilities, utilizzo di diversi tool tecnologici, supporto a progetti di Data Governance, reporting, pianificazione, manutenzione applicativa, project management, analisi funzionale e supporto utenti.</a:t>
            </a:r>
            <a:endParaRPr lang="it-IT" sz="12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defRPr sz="1000">
                <a:latin typeface="Arial"/>
              </a:defRPr>
            </a:pPr>
            <a:r>
              <a:t>• Primario gruppo bancario italiano (): Supporto all’evoluzione e ottimizzazione dei processi bancari, compliance per la gestione del dato e calcolo delle metriche di rischio, Data Governance.</a:t>
            </a:r>
          </a:p>
          <a:p>
            <a:pPr>
              <a:defRPr sz="1000">
                <a:latin typeface="Arial"/>
              </a:defRPr>
            </a:pPr>
            <a:r>
              <a:t>• Principale gruppo infrastrutturale per la gestione della rete autostradale nazionale ed extranazionale (): Analisi e progettazione del modello di reporting e pianificazione per il monitoraggio dei KPI economici, finanziari e fisici tramite Tagetik CCH.</a:t>
            </a:r>
          </a:p>
          <a:p>
            <a:pPr>
              <a:defRPr sz="1000">
                <a:latin typeface="Arial"/>
              </a:defRPr>
            </a:pPr>
            <a:r>
              <a:t>• Utilities – International Renewable Energy Group (): Manutenzione applicativa del modello civilistico ed EPM di Tagetik, project management, analisi funzionale, implementazione e supporto utenti.</a:t>
            </a:r>
          </a:p>
          <a:p>
            <a:pPr>
              <a:defRPr sz="1000">
                <a:latin typeface="Arial"/>
              </a:defRPr>
            </a:pPr>
            <a:r>
              <a:t>• HPS – Azienda Ospedaliera Locale (): Analisi e progettazione di un modello di business intelligence avanzata per il monitoraggio e la valutazione dell’organizzazione del percorso chirurgico.</a:t>
            </a:r>
          </a:p>
          <a:p>
            <a:pPr>
              <a:defRPr sz="1000">
                <a:latin typeface="Arial"/>
              </a:defRPr>
            </a:pPr>
            <a:r>
              <a:t>• Utilities – International Energy Group (): Supporto in attività di analisi dati e reportistica per CRM e contact center.</a:t>
            </a:r>
          </a:p>
        </p:txBody>
      </p:sp>
      <p:pic>
        <p:nvPicPr>
          <p:cNvPr id="16" name="Google Shape;83;p1">
            <a:extLst>
              <a:ext uri="{FF2B5EF4-FFF2-40B4-BE49-F238E27FC236}">
                <a16:creationId xmlns:a16="http://schemas.microsoft.com/office/drawing/2014/main" id="{C533DC0B-088B-7739-0C32-90E263E3B6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86857" y="5868868"/>
            <a:ext cx="803994" cy="74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5;p1">
            <a:extLst>
              <a:ext uri="{FF2B5EF4-FFF2-40B4-BE49-F238E27FC236}">
                <a16:creationId xmlns:a16="http://schemas.microsoft.com/office/drawing/2014/main" id="{E9D4485B-81DD-B6F3-0BDF-A1EFAA3CDED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37338" y="5868868"/>
            <a:ext cx="803994" cy="74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86;p1" descr="Shape, polygon&#10;&#10;Description automatically generated">
            <a:extLst>
              <a:ext uri="{FF2B5EF4-FFF2-40B4-BE49-F238E27FC236}">
                <a16:creationId xmlns:a16="http://schemas.microsoft.com/office/drawing/2014/main" id="{0628679B-BAFB-C47C-985D-072ABF0B1B7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33454" y="5860809"/>
            <a:ext cx="812800" cy="7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87;p1">
            <a:extLst>
              <a:ext uri="{FF2B5EF4-FFF2-40B4-BE49-F238E27FC236}">
                <a16:creationId xmlns:a16="http://schemas.microsoft.com/office/drawing/2014/main" id="{AE9B06F5-70A9-AB10-60C0-75EDBD73E9CA}"/>
              </a:ext>
            </a:extLst>
          </p:cNvPr>
          <p:cNvSpPr txBox="1"/>
          <p:nvPr/>
        </p:nvSpPr>
        <p:spPr>
          <a:xfrm>
            <a:off x="8868559" y="4296149"/>
            <a:ext cx="2883972" cy="11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Cloud Certified: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1212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{{DATAINIZIOCERT}} – {{DATAFINECERT}}</a:t>
            </a:r>
            <a:r>
              <a:rPr lang="it-IT" sz="1000" b="0" i="0" u="none" strike="noStrike" cap="none" dirty="0">
                <a:solidFill>
                  <a:srgbClr val="21212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 {{CERTIFICAZIONE}}</a:t>
            </a:r>
            <a:endParaRPr sz="1000" b="0" i="0" u="none" strike="noStrike" cap="none" dirty="0">
              <a:solidFill>
                <a:srgbClr val="21212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88;p1">
            <a:extLst>
              <a:ext uri="{FF2B5EF4-FFF2-40B4-BE49-F238E27FC236}">
                <a16:creationId xmlns:a16="http://schemas.microsoft.com/office/drawing/2014/main" id="{D9DA2140-F7F6-C686-6C30-85BDA46374B7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80792" y="5827719"/>
            <a:ext cx="825872" cy="74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6FF88CCE-2BBE-DAA2-6C2B-3B26C61AC2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4491" y="1202727"/>
            <a:ext cx="6102664" cy="368319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8DC93E06-C01A-2B5B-1328-637D173005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4965" y="3968522"/>
            <a:ext cx="6121715" cy="368319"/>
          </a:xfrm>
          <a:prstGeom prst="rect">
            <a:avLst/>
          </a:prstGeom>
        </p:spPr>
      </p:pic>
      <p:sp>
        <p:nvSpPr>
          <p:cNvPr id="26" name="Rettangolo 25">
            <a:extLst>
              <a:ext uri="{FF2B5EF4-FFF2-40B4-BE49-F238E27FC236}">
                <a16:creationId xmlns:a16="http://schemas.microsoft.com/office/drawing/2014/main" id="{B6D68515-A7AA-9E95-EF4A-1CB3E0BF0213}"/>
              </a:ext>
            </a:extLst>
          </p:cNvPr>
          <p:cNvSpPr/>
          <p:nvPr/>
        </p:nvSpPr>
        <p:spPr>
          <a:xfrm>
            <a:off x="8812707" y="6305384"/>
            <a:ext cx="812801" cy="1475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700" b="1" dirty="0">
                <a:solidFill>
                  <a:schemeClr val="bg2">
                    <a:lumMod val="50000"/>
                  </a:schemeClr>
                </a:solidFill>
              </a:rPr>
              <a:t>UTILITIES</a:t>
            </a: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07CC276C-5FC2-8AFD-501C-20DCEAB9DF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5846" y="5474549"/>
            <a:ext cx="6170834" cy="353170"/>
          </a:xfrm>
          <a:prstGeom prst="rect">
            <a:avLst/>
          </a:prstGeom>
        </p:spPr>
      </p:pic>
      <p:pic>
        <p:nvPicPr>
          <p:cNvPr id="29" name="Google Shape;84;p16">
            <a:extLst>
              <a:ext uri="{FF2B5EF4-FFF2-40B4-BE49-F238E27FC236}">
                <a16:creationId xmlns:a16="http://schemas.microsoft.com/office/drawing/2014/main" id="{7BFC051C-5214-EBAA-D6C6-8408978FA54A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732449" y="5868868"/>
            <a:ext cx="803994" cy="7438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772668-2301-0F70-F372-A2BBB3E1F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2D2C2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Data Eng, Mgmt &amp; Governance Sr Analyst</a:t>
            </a:r>
            <a:endParaRPr kumimoji="0" lang="it-IT" altLang="it-IT" sz="1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it-IT" altLang="it-IT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3677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Props1.xml><?xml version="1.0" encoding="utf-8"?>
<ds:datastoreItem xmlns:ds="http://schemas.openxmlformats.org/officeDocument/2006/customXml" ds:itemID="{F3F9FB69-6E65-49C1-B1C8-8ECDC09770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3CC318-7635-465F-A3BC-7ADA63DB63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8CB347-EC7F-4958-9227-F4DA7E4FA31B}">
  <ds:schemaRefs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0c996f47-dcb3-45be-a188-e55b74001a6b"/>
    <ds:schemaRef ds:uri="http://purl.org/dc/dcmitype/"/>
    <ds:schemaRef ds:uri="http://schemas.microsoft.com/office/infopath/2007/PartnerControls"/>
    <ds:schemaRef ds:uri="dcde4bc9-889c-44b8-ae31-35d610ff0c96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1964</TotalTime>
  <Words>49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Segoe UI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Errico, Marco</dc:creator>
  <cp:lastModifiedBy>Palmiotti, Pierpaolo</cp:lastModifiedBy>
  <cp:revision>50</cp:revision>
  <dcterms:created xsi:type="dcterms:W3CDTF">2025-01-24T10:45:02Z</dcterms:created>
  <dcterms:modified xsi:type="dcterms:W3CDTF">2025-12-04T18:22:06Z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Order">
    <vt:r8>12400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MediaServiceImageTags">
    <vt:lpwstr/>
  </property>
  <property fmtid="{D5CDD505-2E9C-101B-9397-08002B2CF9AE}" pid="11" name="_SourceUrl">
    <vt:lpwstr/>
  </property>
  <property fmtid="{D5CDD505-2E9C-101B-9397-08002B2CF9AE}" pid="12" name="_SharedFileIndex">
    <vt:lpwstr/>
  </property>
</Properties>
</file>